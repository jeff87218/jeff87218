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4" r:id="rId11"/>
    <p:sldId id="265" r:id="rId12"/>
    <p:sldId id="266" r:id="rId13"/>
    <p:sldId id="267" r:id="rId14"/>
  </p:sldIdLst>
  <p:sldSz cx="7562850" cy="1069181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E81A8F-61C5-4F65-8D2D-B5DBF41D6F50}" v="5" dt="2019-11-14T06:51:01.595"/>
    <p1510:client id="{E5A6CF32-06BD-4FF4-A4B9-3136950BF287}" v="327" dt="2019-11-14T06:49:27.4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7563410" cy="10691813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89599" y="2824746"/>
            <a:ext cx="4390875" cy="2362758"/>
          </a:xfrm>
        </p:spPr>
        <p:txBody>
          <a:bodyPr anchor="b">
            <a:noAutofit/>
          </a:bodyPr>
          <a:lstStyle>
            <a:lvl1pPr algn="ctr">
              <a:defRPr sz="3395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89599" y="5609893"/>
            <a:ext cx="4390875" cy="2147796"/>
          </a:xfrm>
        </p:spPr>
        <p:txBody>
          <a:bodyPr anchor="t">
            <a:normAutofit/>
          </a:bodyPr>
          <a:lstStyle>
            <a:lvl1pPr marL="0" indent="0" algn="ctr">
              <a:buNone/>
              <a:defRPr sz="1415">
                <a:solidFill>
                  <a:schemeClr val="tx1"/>
                </a:solidFill>
              </a:defRPr>
            </a:lvl1pPr>
            <a:lvl2pPr marL="323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46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701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935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6168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9402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2636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587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16605" y="7880265"/>
            <a:ext cx="556855" cy="435592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11/13/2019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589600" y="7880265"/>
            <a:ext cx="3361978" cy="43559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38490" y="7880265"/>
            <a:ext cx="341985" cy="435592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670564" y="5411899"/>
            <a:ext cx="4228946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6027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057397" y="3673475"/>
            <a:ext cx="5455056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11/13/2019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83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7397" y="2559009"/>
            <a:ext cx="5455056" cy="2841350"/>
          </a:xfrm>
        </p:spPr>
        <p:txBody>
          <a:bodyPr anchor="b">
            <a:normAutofit/>
          </a:bodyPr>
          <a:lstStyle>
            <a:lvl1pPr algn="ctr">
              <a:defRPr sz="2829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7397" y="5822750"/>
            <a:ext cx="5455056" cy="1699364"/>
          </a:xfrm>
        </p:spPr>
        <p:txBody>
          <a:bodyPr anchor="t">
            <a:normAutofit/>
          </a:bodyPr>
          <a:lstStyle>
            <a:lvl1pPr marL="0" indent="0" algn="ctr">
              <a:buNone/>
              <a:defRPr sz="1698">
                <a:solidFill>
                  <a:schemeClr val="tx1"/>
                </a:solidFill>
              </a:defRPr>
            </a:lvl1pPr>
            <a:lvl2pPr marL="323378" indent="0">
              <a:buNone/>
              <a:defRPr sz="1273">
                <a:solidFill>
                  <a:schemeClr val="tx1">
                    <a:tint val="75000"/>
                  </a:schemeClr>
                </a:solidFill>
              </a:defRPr>
            </a:lvl2pPr>
            <a:lvl3pPr marL="646755" indent="0">
              <a:buNone/>
              <a:defRPr sz="1132">
                <a:solidFill>
                  <a:schemeClr val="tx1">
                    <a:tint val="75000"/>
                  </a:schemeClr>
                </a:solidFill>
              </a:defRPr>
            </a:lvl3pPr>
            <a:lvl4pPr marL="970133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4pPr>
            <a:lvl5pPr marL="1293510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5pPr>
            <a:lvl6pPr marL="1616888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6pPr>
            <a:lvl7pPr marL="1940265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7pPr>
            <a:lvl8pPr marL="2263643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8pPr>
            <a:lvl9pPr marL="2587020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057399" y="5611552"/>
            <a:ext cx="545505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2016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057397" y="3673475"/>
            <a:ext cx="5455056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3366" y="1427037"/>
            <a:ext cx="5623120" cy="203276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73366" y="3877564"/>
            <a:ext cx="2760440" cy="5374418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41928" y="3877564"/>
            <a:ext cx="2760440" cy="5374418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11/13/2019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844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368" y="4144727"/>
            <a:ext cx="2760440" cy="898409"/>
          </a:xfrm>
        </p:spPr>
        <p:txBody>
          <a:bodyPr anchor="b">
            <a:noAutofit/>
          </a:bodyPr>
          <a:lstStyle>
            <a:lvl1pPr marL="0" indent="0">
              <a:buNone/>
              <a:defRPr sz="1698" b="0">
                <a:solidFill>
                  <a:schemeClr val="accent1"/>
                </a:solidFill>
              </a:defRPr>
            </a:lvl1pPr>
            <a:lvl2pPr marL="323378" indent="0">
              <a:buNone/>
              <a:defRPr sz="1415" b="1"/>
            </a:lvl2pPr>
            <a:lvl3pPr marL="646755" indent="0">
              <a:buNone/>
              <a:defRPr sz="1273" b="1"/>
            </a:lvl3pPr>
            <a:lvl4pPr marL="970133" indent="0">
              <a:buNone/>
              <a:defRPr sz="1132" b="1"/>
            </a:lvl4pPr>
            <a:lvl5pPr marL="1293510" indent="0">
              <a:buNone/>
              <a:defRPr sz="1132" b="1"/>
            </a:lvl5pPr>
            <a:lvl6pPr marL="1616888" indent="0">
              <a:buNone/>
              <a:defRPr sz="1132" b="1"/>
            </a:lvl6pPr>
            <a:lvl7pPr marL="1940265" indent="0">
              <a:buNone/>
              <a:defRPr sz="1132" b="1"/>
            </a:lvl7pPr>
            <a:lvl8pPr marL="2263643" indent="0">
              <a:buNone/>
              <a:defRPr sz="1132" b="1"/>
            </a:lvl8pPr>
            <a:lvl9pPr marL="2587020" indent="0">
              <a:buNone/>
              <a:defRPr sz="1132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73368" y="5056337"/>
            <a:ext cx="2760440" cy="421970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39182" y="4144727"/>
            <a:ext cx="2760440" cy="898409"/>
          </a:xfrm>
        </p:spPr>
        <p:txBody>
          <a:bodyPr anchor="b">
            <a:noAutofit/>
          </a:bodyPr>
          <a:lstStyle>
            <a:lvl1pPr marL="0" indent="0">
              <a:buNone/>
              <a:defRPr sz="1698" b="0">
                <a:solidFill>
                  <a:schemeClr val="accent1"/>
                </a:solidFill>
              </a:defRPr>
            </a:lvl1pPr>
            <a:lvl2pPr marL="323378" indent="0">
              <a:buNone/>
              <a:defRPr sz="1415" b="1"/>
            </a:lvl2pPr>
            <a:lvl3pPr marL="646755" indent="0">
              <a:buNone/>
              <a:defRPr sz="1273" b="1"/>
            </a:lvl3pPr>
            <a:lvl4pPr marL="970133" indent="0">
              <a:buNone/>
              <a:defRPr sz="1132" b="1"/>
            </a:lvl4pPr>
            <a:lvl5pPr marL="1293510" indent="0">
              <a:buNone/>
              <a:defRPr sz="1132" b="1"/>
            </a:lvl5pPr>
            <a:lvl6pPr marL="1616888" indent="0">
              <a:buNone/>
              <a:defRPr sz="1132" b="1"/>
            </a:lvl6pPr>
            <a:lvl7pPr marL="1940265" indent="0">
              <a:buNone/>
              <a:defRPr sz="1132" b="1"/>
            </a:lvl7pPr>
            <a:lvl8pPr marL="2263643" indent="0">
              <a:buNone/>
              <a:defRPr sz="1132" b="1"/>
            </a:lvl8pPr>
            <a:lvl9pPr marL="2587020" indent="0">
              <a:buNone/>
              <a:defRPr sz="1132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39182" y="5056337"/>
            <a:ext cx="2760440" cy="421970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41" name="Straight Connector 40"/>
          <p:cNvCxnSpPr/>
          <p:nvPr/>
        </p:nvCxnSpPr>
        <p:spPr>
          <a:xfrm>
            <a:off x="1057398" y="3670996"/>
            <a:ext cx="5455056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3699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3366" y="1427037"/>
            <a:ext cx="5623120" cy="203276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057398" y="3670996"/>
            <a:ext cx="5455056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428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809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3366" y="2164763"/>
            <a:ext cx="2098143" cy="2138363"/>
          </a:xfrm>
        </p:spPr>
        <p:txBody>
          <a:bodyPr anchor="b">
            <a:normAutofit/>
          </a:bodyPr>
          <a:lstStyle>
            <a:lvl1pPr algn="ctr">
              <a:defRPr sz="1698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07635" y="1531172"/>
            <a:ext cx="3188852" cy="7629469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3366" y="4725515"/>
            <a:ext cx="2098143" cy="3801540"/>
          </a:xfrm>
        </p:spPr>
        <p:txBody>
          <a:bodyPr anchor="t">
            <a:normAutofit/>
          </a:bodyPr>
          <a:lstStyle>
            <a:lvl1pPr marL="0" indent="0" algn="ctr">
              <a:buNone/>
              <a:defRPr sz="1132"/>
            </a:lvl1pPr>
            <a:lvl2pPr marL="323378" indent="0">
              <a:buNone/>
              <a:defRPr sz="849"/>
            </a:lvl2pPr>
            <a:lvl3pPr marL="646755" indent="0">
              <a:buNone/>
              <a:defRPr sz="707"/>
            </a:lvl3pPr>
            <a:lvl4pPr marL="970133" indent="0">
              <a:buNone/>
              <a:defRPr sz="637"/>
            </a:lvl4pPr>
            <a:lvl5pPr marL="1293510" indent="0">
              <a:buNone/>
              <a:defRPr sz="637"/>
            </a:lvl5pPr>
            <a:lvl6pPr marL="1616888" indent="0">
              <a:buNone/>
              <a:defRPr sz="637"/>
            </a:lvl6pPr>
            <a:lvl7pPr marL="1940265" indent="0">
              <a:buNone/>
              <a:defRPr sz="637"/>
            </a:lvl7pPr>
            <a:lvl8pPr marL="2263643" indent="0">
              <a:buNone/>
              <a:defRPr sz="637"/>
            </a:lvl8pPr>
            <a:lvl9pPr marL="2587020" indent="0">
              <a:buNone/>
              <a:defRPr sz="637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057398" y="4540720"/>
            <a:ext cx="193007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4452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3365" y="2936946"/>
            <a:ext cx="3004134" cy="2138363"/>
          </a:xfrm>
        </p:spPr>
        <p:txBody>
          <a:bodyPr anchor="b">
            <a:normAutofit/>
          </a:bodyPr>
          <a:lstStyle>
            <a:lvl1pPr algn="ctr">
              <a:defRPr sz="1698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86830" y="1610372"/>
            <a:ext cx="2422910" cy="7471073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132"/>
            </a:lvl1pPr>
            <a:lvl2pPr marL="323378" indent="0">
              <a:buNone/>
              <a:defRPr sz="1132"/>
            </a:lvl2pPr>
            <a:lvl3pPr marL="646755" indent="0">
              <a:buNone/>
              <a:defRPr sz="1132"/>
            </a:lvl3pPr>
            <a:lvl4pPr marL="970133" indent="0">
              <a:buNone/>
              <a:defRPr sz="1132"/>
            </a:lvl4pPr>
            <a:lvl5pPr marL="1293510" indent="0">
              <a:buNone/>
              <a:defRPr sz="1132"/>
            </a:lvl5pPr>
            <a:lvl6pPr marL="1616888" indent="0">
              <a:buNone/>
              <a:defRPr sz="1132"/>
            </a:lvl6pPr>
            <a:lvl7pPr marL="1940265" indent="0">
              <a:buNone/>
              <a:defRPr sz="1132"/>
            </a:lvl7pPr>
            <a:lvl8pPr marL="2263643" indent="0">
              <a:buNone/>
              <a:defRPr sz="1132"/>
            </a:lvl8pPr>
            <a:lvl9pPr marL="2587020" indent="0">
              <a:buNone/>
              <a:defRPr sz="1132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3366" y="5075309"/>
            <a:ext cx="3004133" cy="2851150"/>
          </a:xfrm>
        </p:spPr>
        <p:txBody>
          <a:bodyPr anchor="t">
            <a:normAutofit/>
          </a:bodyPr>
          <a:lstStyle>
            <a:lvl1pPr marL="0" indent="0" algn="ctr">
              <a:buNone/>
              <a:defRPr sz="1132"/>
            </a:lvl1pPr>
            <a:lvl2pPr marL="323378" indent="0">
              <a:buNone/>
              <a:defRPr sz="849"/>
            </a:lvl2pPr>
            <a:lvl3pPr marL="646755" indent="0">
              <a:buNone/>
              <a:defRPr sz="707"/>
            </a:lvl3pPr>
            <a:lvl4pPr marL="970133" indent="0">
              <a:buNone/>
              <a:defRPr sz="637"/>
            </a:lvl4pPr>
            <a:lvl5pPr marL="1293510" indent="0">
              <a:buNone/>
              <a:defRPr sz="637"/>
            </a:lvl5pPr>
            <a:lvl6pPr marL="1616888" indent="0">
              <a:buNone/>
              <a:defRPr sz="637"/>
            </a:lvl6pPr>
            <a:lvl7pPr marL="1940265" indent="0">
              <a:buNone/>
              <a:defRPr sz="637"/>
            </a:lvl7pPr>
            <a:lvl8pPr marL="2263643" indent="0">
              <a:buNone/>
              <a:defRPr sz="637"/>
            </a:lvl8pPr>
            <a:lvl9pPr marL="2587020" indent="0">
              <a:buNone/>
              <a:defRPr sz="637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737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3366" y="7507366"/>
            <a:ext cx="5623120" cy="883560"/>
          </a:xfrm>
        </p:spPr>
        <p:txBody>
          <a:bodyPr anchor="b">
            <a:normAutofit/>
          </a:bodyPr>
          <a:lstStyle>
            <a:lvl1pPr algn="ctr">
              <a:defRPr sz="1698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48802" y="1610372"/>
            <a:ext cx="5865247" cy="5240312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132"/>
            </a:lvl1pPr>
            <a:lvl2pPr marL="323378" indent="0">
              <a:buNone/>
              <a:defRPr sz="1132"/>
            </a:lvl2pPr>
            <a:lvl3pPr marL="646755" indent="0">
              <a:buNone/>
              <a:defRPr sz="1132"/>
            </a:lvl3pPr>
            <a:lvl4pPr marL="970133" indent="0">
              <a:buNone/>
              <a:defRPr sz="1132"/>
            </a:lvl4pPr>
            <a:lvl5pPr marL="1293510" indent="0">
              <a:buNone/>
              <a:defRPr sz="1132"/>
            </a:lvl5pPr>
            <a:lvl6pPr marL="1616888" indent="0">
              <a:buNone/>
              <a:defRPr sz="1132"/>
            </a:lvl6pPr>
            <a:lvl7pPr marL="1940265" indent="0">
              <a:buNone/>
              <a:defRPr sz="1132"/>
            </a:lvl7pPr>
            <a:lvl8pPr marL="2263643" indent="0">
              <a:buNone/>
              <a:defRPr sz="1132"/>
            </a:lvl8pPr>
            <a:lvl9pPr marL="2587020" indent="0">
              <a:buNone/>
              <a:defRPr sz="1132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3366" y="8390926"/>
            <a:ext cx="5623120" cy="769711"/>
          </a:xfrm>
        </p:spPr>
        <p:txBody>
          <a:bodyPr anchor="t">
            <a:normAutofit/>
          </a:bodyPr>
          <a:lstStyle>
            <a:lvl1pPr marL="0" indent="0" algn="ctr">
              <a:buNone/>
              <a:defRPr sz="1132"/>
            </a:lvl1pPr>
            <a:lvl2pPr marL="323378" indent="0">
              <a:buNone/>
              <a:defRPr sz="849"/>
            </a:lvl2pPr>
            <a:lvl3pPr marL="646755" indent="0">
              <a:buNone/>
              <a:defRPr sz="707"/>
            </a:lvl3pPr>
            <a:lvl4pPr marL="970133" indent="0">
              <a:buNone/>
              <a:defRPr sz="637"/>
            </a:lvl4pPr>
            <a:lvl5pPr marL="1293510" indent="0">
              <a:buNone/>
              <a:defRPr sz="637"/>
            </a:lvl5pPr>
            <a:lvl6pPr marL="1616888" indent="0">
              <a:buNone/>
              <a:defRPr sz="637"/>
            </a:lvl6pPr>
            <a:lvl7pPr marL="1940265" indent="0">
              <a:buNone/>
              <a:defRPr sz="637"/>
            </a:lvl7pPr>
            <a:lvl8pPr marL="2263643" indent="0">
              <a:buNone/>
              <a:defRPr sz="637"/>
            </a:lvl8pPr>
            <a:lvl9pPr marL="2587020" indent="0">
              <a:buNone/>
              <a:defRPr sz="637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702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3366" y="1413840"/>
            <a:ext cx="5623120" cy="4829650"/>
          </a:xfrm>
        </p:spPr>
        <p:txBody>
          <a:bodyPr anchor="ctr">
            <a:normAutofit/>
          </a:bodyPr>
          <a:lstStyle>
            <a:lvl1pPr algn="ctr">
              <a:defRPr sz="2263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366" y="6665883"/>
            <a:ext cx="5623121" cy="249475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15">
                <a:solidFill>
                  <a:schemeClr val="tx1"/>
                </a:solidFill>
              </a:defRPr>
            </a:lvl1pPr>
            <a:lvl2pPr marL="323378" indent="0">
              <a:buNone/>
              <a:defRPr sz="1273">
                <a:solidFill>
                  <a:schemeClr val="tx1">
                    <a:tint val="75000"/>
                  </a:schemeClr>
                </a:solidFill>
              </a:defRPr>
            </a:lvl2pPr>
            <a:lvl3pPr marL="646755" indent="0">
              <a:buNone/>
              <a:defRPr sz="1132">
                <a:solidFill>
                  <a:schemeClr val="tx1">
                    <a:tint val="75000"/>
                  </a:schemeClr>
                </a:solidFill>
              </a:defRPr>
            </a:lvl3pPr>
            <a:lvl4pPr marL="970133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4pPr>
            <a:lvl5pPr marL="1293510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5pPr>
            <a:lvl6pPr marL="1616888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6pPr>
            <a:lvl7pPr marL="1940265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7pPr>
            <a:lvl8pPr marL="2263643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8pPr>
            <a:lvl9pPr marL="2587020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57398" y="6454686"/>
            <a:ext cx="546406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55590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3605" y="1531171"/>
            <a:ext cx="5293540" cy="3695937"/>
          </a:xfrm>
        </p:spPr>
        <p:txBody>
          <a:bodyPr anchor="ctr">
            <a:normAutofit/>
          </a:bodyPr>
          <a:lstStyle>
            <a:lvl1pPr algn="ctr">
              <a:defRPr sz="2263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23499" y="5227108"/>
            <a:ext cx="4873835" cy="1016382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273"/>
            </a:lvl1pPr>
            <a:lvl2pPr marL="323378" indent="0">
              <a:buFontTx/>
              <a:buNone/>
              <a:defRPr/>
            </a:lvl2pPr>
            <a:lvl3pPr marL="646755" indent="0">
              <a:buFontTx/>
              <a:buNone/>
              <a:defRPr/>
            </a:lvl3pPr>
            <a:lvl4pPr marL="970133" indent="0">
              <a:buFontTx/>
              <a:buNone/>
              <a:defRPr/>
            </a:lvl4pPr>
            <a:lvl5pPr marL="129351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364" y="6771482"/>
            <a:ext cx="5623123" cy="238915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15">
                <a:solidFill>
                  <a:schemeClr val="tx1"/>
                </a:solidFill>
              </a:defRPr>
            </a:lvl1pPr>
            <a:lvl2pPr marL="323378" indent="0">
              <a:buNone/>
              <a:defRPr sz="1273">
                <a:solidFill>
                  <a:schemeClr val="tx1">
                    <a:tint val="75000"/>
                  </a:schemeClr>
                </a:solidFill>
              </a:defRPr>
            </a:lvl2pPr>
            <a:lvl3pPr marL="646755" indent="0">
              <a:buNone/>
              <a:defRPr sz="1132">
                <a:solidFill>
                  <a:schemeClr val="tx1">
                    <a:tint val="75000"/>
                  </a:schemeClr>
                </a:solidFill>
              </a:defRPr>
            </a:lvl3pPr>
            <a:lvl4pPr marL="970133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4pPr>
            <a:lvl5pPr marL="1293510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5pPr>
            <a:lvl6pPr marL="1616888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6pPr>
            <a:lvl7pPr marL="1940265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7pPr>
            <a:lvl8pPr marL="2263643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8pPr>
            <a:lvl9pPr marL="2587020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702996" y="1411485"/>
            <a:ext cx="378241" cy="911682"/>
          </a:xfrm>
          <a:prstGeom prst="rect">
            <a:avLst/>
          </a:prstGeom>
        </p:spPr>
        <p:txBody>
          <a:bodyPr vert="horz" lIns="64680" tIns="32340" rIns="64680" bIns="32340" rtlCol="0" anchor="ctr">
            <a:noAutofit/>
          </a:bodyPr>
          <a:lstStyle/>
          <a:p>
            <a:pPr lvl="0"/>
            <a:r>
              <a:rPr lang="en-US" sz="5093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3543" y="4408728"/>
            <a:ext cx="378241" cy="911682"/>
          </a:xfrm>
          <a:prstGeom prst="rect">
            <a:avLst/>
          </a:prstGeom>
        </p:spPr>
        <p:txBody>
          <a:bodyPr vert="horz" lIns="64680" tIns="32340" rIns="64680" bIns="32340" rtlCol="0" anchor="ctr">
            <a:noAutofit/>
          </a:bodyPr>
          <a:lstStyle/>
          <a:p>
            <a:pPr lvl="0" algn="r"/>
            <a:r>
              <a:rPr lang="en-US" sz="5093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057398" y="6454686"/>
            <a:ext cx="5455056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90177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3369" y="5158170"/>
            <a:ext cx="5623115" cy="2289900"/>
          </a:xfrm>
        </p:spPr>
        <p:txBody>
          <a:bodyPr anchor="b">
            <a:normAutofit/>
          </a:bodyPr>
          <a:lstStyle>
            <a:lvl1pPr algn="l">
              <a:defRPr sz="2263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368" y="7448070"/>
            <a:ext cx="5623116" cy="1341388"/>
          </a:xfrm>
        </p:spPr>
        <p:txBody>
          <a:bodyPr anchor="t">
            <a:normAutofit/>
          </a:bodyPr>
          <a:lstStyle>
            <a:lvl1pPr marL="0" indent="0" algn="l">
              <a:buNone/>
              <a:defRPr sz="1273">
                <a:solidFill>
                  <a:schemeClr val="tx1"/>
                </a:solidFill>
              </a:defRPr>
            </a:lvl1pPr>
            <a:lvl2pPr marL="323378" indent="0">
              <a:buNone/>
              <a:defRPr sz="1273">
                <a:solidFill>
                  <a:schemeClr val="tx1">
                    <a:tint val="75000"/>
                  </a:schemeClr>
                </a:solidFill>
              </a:defRPr>
            </a:lvl2pPr>
            <a:lvl3pPr marL="646755" indent="0">
              <a:buNone/>
              <a:defRPr sz="1132">
                <a:solidFill>
                  <a:schemeClr val="tx1">
                    <a:tint val="75000"/>
                  </a:schemeClr>
                </a:solidFill>
              </a:defRPr>
            </a:lvl3pPr>
            <a:lvl4pPr marL="970133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4pPr>
            <a:lvl5pPr marL="1293510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5pPr>
            <a:lvl6pPr marL="1616888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6pPr>
            <a:lvl7pPr marL="1940265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7pPr>
            <a:lvl8pPr marL="2263643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8pPr>
            <a:lvl9pPr marL="2587020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7638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5705" y="1531171"/>
            <a:ext cx="5231441" cy="3497941"/>
          </a:xfrm>
        </p:spPr>
        <p:txBody>
          <a:bodyPr anchor="ctr">
            <a:normAutofit/>
          </a:bodyPr>
          <a:lstStyle>
            <a:lvl1pPr algn="ctr">
              <a:defRPr sz="2263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973368" y="5673789"/>
            <a:ext cx="5623116" cy="138280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415">
                <a:solidFill>
                  <a:schemeClr val="tx1"/>
                </a:solidFill>
              </a:defRPr>
            </a:lvl1pPr>
            <a:lvl2pPr marL="323378" indent="0">
              <a:buNone/>
              <a:defRPr sz="1273">
                <a:solidFill>
                  <a:schemeClr val="tx1">
                    <a:tint val="75000"/>
                  </a:schemeClr>
                </a:solidFill>
              </a:defRPr>
            </a:lvl2pPr>
            <a:lvl3pPr marL="646755" indent="0">
              <a:buNone/>
              <a:defRPr sz="1132">
                <a:solidFill>
                  <a:schemeClr val="tx1">
                    <a:tint val="75000"/>
                  </a:schemeClr>
                </a:solidFill>
              </a:defRPr>
            </a:lvl3pPr>
            <a:lvl4pPr marL="970133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4pPr>
            <a:lvl5pPr marL="1293510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5pPr>
            <a:lvl6pPr marL="1616888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6pPr>
            <a:lvl7pPr marL="1940265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7pPr>
            <a:lvl8pPr marL="2263643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8pPr>
            <a:lvl9pPr marL="2587020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366" y="7061877"/>
            <a:ext cx="5623121" cy="2098763"/>
          </a:xfrm>
        </p:spPr>
        <p:txBody>
          <a:bodyPr anchor="t">
            <a:normAutofit/>
          </a:bodyPr>
          <a:lstStyle>
            <a:lvl1pPr marL="0" indent="0" algn="l">
              <a:buNone/>
              <a:defRPr sz="1132">
                <a:solidFill>
                  <a:schemeClr val="tx1"/>
                </a:solidFill>
              </a:defRPr>
            </a:lvl1pPr>
            <a:lvl2pPr marL="323378" indent="0">
              <a:buNone/>
              <a:defRPr sz="1132">
                <a:solidFill>
                  <a:schemeClr val="tx1">
                    <a:tint val="75000"/>
                  </a:schemeClr>
                </a:solidFill>
              </a:defRPr>
            </a:lvl2pPr>
            <a:lvl3pPr marL="646755" indent="0">
              <a:buNone/>
              <a:defRPr sz="1132">
                <a:solidFill>
                  <a:schemeClr val="tx1">
                    <a:tint val="75000"/>
                  </a:schemeClr>
                </a:solidFill>
              </a:defRPr>
            </a:lvl3pPr>
            <a:lvl4pPr marL="970133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4pPr>
            <a:lvl5pPr marL="1293510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5pPr>
            <a:lvl6pPr marL="1616888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6pPr>
            <a:lvl7pPr marL="1940265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7pPr>
            <a:lvl8pPr marL="2263643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8pPr>
            <a:lvl9pPr marL="2587020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726229" y="1398284"/>
            <a:ext cx="378241" cy="911682"/>
          </a:xfrm>
          <a:prstGeom prst="rect">
            <a:avLst/>
          </a:prstGeom>
        </p:spPr>
        <p:txBody>
          <a:bodyPr vert="horz" lIns="64680" tIns="32340" rIns="64680" bIns="32340" rtlCol="0" anchor="ctr">
            <a:noAutofit/>
          </a:bodyPr>
          <a:lstStyle/>
          <a:p>
            <a:pPr lvl="0"/>
            <a:r>
              <a:rPr lang="en-US" sz="565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019" y="4065521"/>
            <a:ext cx="378241" cy="911682"/>
          </a:xfrm>
          <a:prstGeom prst="rect">
            <a:avLst/>
          </a:prstGeom>
        </p:spPr>
        <p:txBody>
          <a:bodyPr vert="horz" lIns="64680" tIns="32340" rIns="64680" bIns="32340" rtlCol="0" anchor="ctr">
            <a:noAutofit/>
          </a:bodyPr>
          <a:lstStyle/>
          <a:p>
            <a:pPr lvl="0" algn="r"/>
            <a:r>
              <a:rPr lang="en-US" sz="5658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057398" y="5345907"/>
            <a:ext cx="5455056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8209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3365" y="1531170"/>
            <a:ext cx="5623120" cy="357713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263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973368" y="5559743"/>
            <a:ext cx="5623116" cy="1411319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415">
                <a:solidFill>
                  <a:schemeClr val="tx1"/>
                </a:solidFill>
              </a:defRPr>
            </a:lvl1pPr>
            <a:lvl2pPr marL="323378" indent="0">
              <a:buNone/>
              <a:defRPr sz="1273">
                <a:solidFill>
                  <a:schemeClr val="tx1">
                    <a:tint val="75000"/>
                  </a:schemeClr>
                </a:solidFill>
              </a:defRPr>
            </a:lvl2pPr>
            <a:lvl3pPr marL="646755" indent="0">
              <a:buNone/>
              <a:defRPr sz="1132">
                <a:solidFill>
                  <a:schemeClr val="tx1">
                    <a:tint val="75000"/>
                  </a:schemeClr>
                </a:solidFill>
              </a:defRPr>
            </a:lvl3pPr>
            <a:lvl4pPr marL="970133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4pPr>
            <a:lvl5pPr marL="1293510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5pPr>
            <a:lvl6pPr marL="1616888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6pPr>
            <a:lvl7pPr marL="1940265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7pPr>
            <a:lvl8pPr marL="2263643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8pPr>
            <a:lvl9pPr marL="2587020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366" y="6969479"/>
            <a:ext cx="5623120" cy="2191162"/>
          </a:xfrm>
        </p:spPr>
        <p:txBody>
          <a:bodyPr anchor="t">
            <a:normAutofit/>
          </a:bodyPr>
          <a:lstStyle>
            <a:lvl1pPr marL="0" indent="0" algn="l">
              <a:buNone/>
              <a:defRPr sz="1132">
                <a:solidFill>
                  <a:schemeClr val="tx1"/>
                </a:solidFill>
              </a:defRPr>
            </a:lvl1pPr>
            <a:lvl2pPr marL="323378" indent="0">
              <a:buNone/>
              <a:defRPr sz="1132">
                <a:solidFill>
                  <a:schemeClr val="tx1">
                    <a:tint val="75000"/>
                  </a:schemeClr>
                </a:solidFill>
              </a:defRPr>
            </a:lvl2pPr>
            <a:lvl3pPr marL="646755" indent="0">
              <a:buNone/>
              <a:defRPr sz="1132">
                <a:solidFill>
                  <a:schemeClr val="tx1">
                    <a:tint val="75000"/>
                  </a:schemeClr>
                </a:solidFill>
              </a:defRPr>
            </a:lvl3pPr>
            <a:lvl4pPr marL="970133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4pPr>
            <a:lvl5pPr marL="1293510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5pPr>
            <a:lvl6pPr marL="1616888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6pPr>
            <a:lvl7pPr marL="1940265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7pPr>
            <a:lvl8pPr marL="2263643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8pPr>
            <a:lvl9pPr marL="2587020" indent="0">
              <a:buNone/>
              <a:defRPr sz="9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57401" y="5345907"/>
            <a:ext cx="546406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9772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73366" y="3882191"/>
            <a:ext cx="5623121" cy="5278452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057398" y="3670996"/>
            <a:ext cx="546406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47492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57493" y="1413841"/>
            <a:ext cx="1338990" cy="7746802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73367" y="1413841"/>
            <a:ext cx="4065536" cy="7746798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165559" y="1413841"/>
            <a:ext cx="0" cy="7746798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48942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0546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7569853" cy="10691813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73366" y="1427037"/>
            <a:ext cx="5623120" cy="203276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366" y="3882191"/>
            <a:ext cx="5623121" cy="537084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257496" y="9292637"/>
            <a:ext cx="949726" cy="4355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7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73366" y="9292637"/>
            <a:ext cx="4221985" cy="4355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7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69367" y="9292637"/>
            <a:ext cx="327120" cy="4355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7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701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BDBD702-6C71-4226-A9E1-3EEF73B3B87D}"/>
              </a:ext>
            </a:extLst>
          </p:cNvPr>
          <p:cNvSpPr/>
          <p:nvPr/>
        </p:nvSpPr>
        <p:spPr>
          <a:xfrm>
            <a:off x="1471271" y="1308820"/>
            <a:ext cx="4264861" cy="3924136"/>
          </a:xfrm>
          <a:prstGeom prst="rect">
            <a:avLst/>
          </a:prstGeom>
        </p:spPr>
        <p:txBody>
          <a:bodyPr lIns="0" tIns="0" rIns="0" bIns="0" anchor="t"/>
          <a:lstStyle/>
          <a:p>
            <a:pPr algn="just" eaLnBrk="1" fontAlgn="auto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zh-TW" sz="1300" spc="100" dirty="0">
              <a:latin typeface="MingLiU"/>
              <a:ea typeface="MingLiU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33CE7F-DF73-4D1F-94CC-0C4CDEBB5592}"/>
              </a:ext>
            </a:extLst>
          </p:cNvPr>
          <p:cNvSpPr/>
          <p:nvPr/>
        </p:nvSpPr>
        <p:spPr>
          <a:xfrm>
            <a:off x="3743325" y="9929813"/>
            <a:ext cx="85725" cy="119062"/>
          </a:xfrm>
          <a:prstGeom prst="rect">
            <a:avLst/>
          </a:prstGeom>
        </p:spPr>
        <p:txBody>
          <a:bodyPr wrap="none"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spc="-50">
                <a:latin typeface="Consolas"/>
              </a:rPr>
              <a:t>i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1D4592F-B0DA-4D23-81B5-61E983331034}"/>
              </a:ext>
            </a:extLst>
          </p:cNvPr>
          <p:cNvSpPr txBox="1"/>
          <p:nvPr/>
        </p:nvSpPr>
        <p:spPr>
          <a:xfrm>
            <a:off x="970564" y="2035021"/>
            <a:ext cx="5367318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altLang="en-US" sz="2400">
                <a:latin typeface="Arial Black"/>
                <a:ea typeface="新細明體"/>
                <a:cs typeface="Calibri"/>
              </a:rPr>
              <a:t>機械四F 專題報告</a:t>
            </a:r>
          </a:p>
          <a:p>
            <a:endParaRPr lang="zh-TW" altLang="en-US" sz="2400" dirty="0">
              <a:latin typeface="Arial Black"/>
              <a:ea typeface="新細明體"/>
              <a:cs typeface="Calibri"/>
            </a:endParaRPr>
          </a:p>
          <a:p>
            <a:endParaRPr lang="zh-TW" altLang="en-US" sz="2400" dirty="0">
              <a:latin typeface="Arial Black"/>
              <a:ea typeface="新細明體"/>
              <a:cs typeface="Calibri"/>
            </a:endParaRPr>
          </a:p>
          <a:p>
            <a:endParaRPr lang="zh-TW" altLang="en-US" sz="2400" dirty="0">
              <a:latin typeface="Arial Black"/>
              <a:ea typeface="新細明體"/>
              <a:cs typeface="Calibri"/>
            </a:endParaRPr>
          </a:p>
          <a:p>
            <a:r>
              <a:rPr lang="zh-TW" altLang="en-US" sz="2400">
                <a:latin typeface="Arial Black"/>
                <a:ea typeface="新細明體"/>
                <a:cs typeface="Calibri"/>
              </a:rPr>
              <a:t>             標題:熱傳導的實際應用</a:t>
            </a:r>
            <a:endParaRPr lang="zh-TW" altLang="en-US" sz="2400" dirty="0">
              <a:latin typeface="Arial Black"/>
              <a:ea typeface="新細明體"/>
              <a:cs typeface="Calibri"/>
            </a:endParaRPr>
          </a:p>
          <a:p>
            <a:endParaRPr lang="zh-TW" altLang="en-US" sz="2400" dirty="0">
              <a:latin typeface="Arial Black"/>
              <a:ea typeface="新細明體"/>
              <a:cs typeface="Calibri"/>
            </a:endParaRPr>
          </a:p>
          <a:p>
            <a:endParaRPr lang="zh-TW" altLang="en-US" sz="2400" dirty="0">
              <a:latin typeface="Arial Black"/>
              <a:ea typeface="新細明體"/>
              <a:cs typeface="Calibri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3E9E944-DF4F-40E7-ABC6-73F8059D500A}"/>
              </a:ext>
            </a:extLst>
          </p:cNvPr>
          <p:cNvSpPr/>
          <p:nvPr/>
        </p:nvSpPr>
        <p:spPr>
          <a:xfrm>
            <a:off x="1123199" y="904227"/>
            <a:ext cx="5291138" cy="6599238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TW" altLang="en-US" sz="1600" spc="100">
                <a:latin typeface="Arial Black"/>
                <a:ea typeface="MingLiU"/>
                <a:cs typeface="Calibri"/>
              </a:rPr>
              <a:t>前</a:t>
            </a:r>
            <a:r>
              <a:rPr lang="zh-TW" sz="1600" spc="100">
                <a:latin typeface="Arial Black"/>
                <a:ea typeface="MingLiU"/>
                <a:cs typeface="Calibri"/>
              </a:rPr>
              <a:t>言</a:t>
            </a:r>
            <a:endParaRPr lang="zh-TW" sz="1600">
              <a:latin typeface="Arial Black"/>
              <a:ea typeface="新細明體"/>
              <a:cs typeface="Calibri"/>
            </a:endParaRPr>
          </a:p>
          <a:p>
            <a:pPr algn="just" eaLnBrk="1" fontAlgn="auto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TW" sz="1600" spc="100">
                <a:latin typeface="Arial Black"/>
                <a:ea typeface="MingLiU"/>
              </a:rPr>
              <a:t>現今社會上，不管從小孩到大人基本上都會有一個保溫瓶，因為暍飲料時總希望它保持在自己希望的溫度，尤其是天氣冷或熱的</a:t>
            </a:r>
            <a:r>
              <a:rPr lang="zh-TW" altLang="en-US" sz="1600" spc="100">
                <a:latin typeface="Arial Black"/>
                <a:ea typeface="MingLiU"/>
              </a:rPr>
              <a:t>時</a:t>
            </a:r>
            <a:r>
              <a:rPr lang="zh-TW" sz="1600" spc="100">
                <a:latin typeface="Arial Black"/>
                <a:ea typeface="MingLiU"/>
              </a:rPr>
              <a:t>候，就更加需要保溫瓶了，但是市場上有很多的保溫瓶，每個保溫效果都不相同，保溫瓶的設計上大多是內膽與快殼中間抽中空，來達到保溫的效果，但如果是利用其他材質來代替，那麼其隔熱效果會更好或是更差呢?可藉由這次的報告來證明使用不同材料的隔熱效果如何。</a:t>
            </a:r>
          </a:p>
          <a:p>
            <a:pPr algn="ctr" eaLnBrk="1" fontAlgn="auto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TW" sz="1600" spc="100">
                <a:latin typeface="Arial Black"/>
                <a:ea typeface="MingLiU"/>
              </a:rPr>
              <a:t>研究動機</a:t>
            </a:r>
          </a:p>
          <a:p>
            <a:pPr indent="190500" algn="just" eaLnBrk="1" fontAlgn="auto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TW" sz="1600" spc="100">
                <a:latin typeface="Arial Black"/>
                <a:ea typeface="MingLiU"/>
              </a:rPr>
              <a:t>利用製作保溫瓶讓我們了解到使用的容器材質、外殼材料以及包裝的方法，皆會影響到這個保溫瓶的保溫效果，讓我們思考該如何設計保溫瓶，才能達到有效的降低熱散失，藉此讓我們學習如何構想、設計、材料選擇以及如何組裝的過程，以及設計結束後他的量測方法、熱傳歷程的物理意義和如何去改良這個保溫瓶，讓他可以達到更好的效果，並利用所學的公式，計算出他的理想熱傳和測量實際熱傳，並探討出此保溫瓶理想以及實際的差異在哪裡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CC3737-BCD7-4F52-A458-1429543ED44D}"/>
              </a:ext>
            </a:extLst>
          </p:cNvPr>
          <p:cNvSpPr/>
          <p:nvPr/>
        </p:nvSpPr>
        <p:spPr>
          <a:xfrm>
            <a:off x="3736975" y="9929813"/>
            <a:ext cx="88900" cy="119062"/>
          </a:xfrm>
          <a:prstGeom prst="rect">
            <a:avLst/>
          </a:prstGeom>
        </p:spPr>
        <p:txBody>
          <a:bodyPr wrap="none"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TW" sz="950" spc="-50">
                <a:latin typeface="Consolas"/>
                <a:ea typeface="Consolas"/>
              </a:rPr>
              <a:t>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1">
            <a:extLst>
              <a:ext uri="{FF2B5EF4-FFF2-40B4-BE49-F238E27FC236}">
                <a16:creationId xmlns:a16="http://schemas.microsoft.com/office/drawing/2014/main" id="{665980F8-6C0B-4030-86DD-2E8BE97DD6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1139074" y="3514725"/>
            <a:ext cx="5507038" cy="272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D7E78A8-E6B0-44C0-BBAC-C6BC1410E006}"/>
              </a:ext>
            </a:extLst>
          </p:cNvPr>
          <p:cNvSpPr/>
          <p:nvPr/>
        </p:nvSpPr>
        <p:spPr>
          <a:xfrm>
            <a:off x="1136650" y="1590675"/>
            <a:ext cx="5284788" cy="1566863"/>
          </a:xfrm>
          <a:prstGeom prst="rect">
            <a:avLst/>
          </a:prstGeom>
        </p:spPr>
        <p:txBody>
          <a:bodyPr lIns="0" tIns="0" rIns="0" bIns="0" anchor="t"/>
          <a:lstStyle/>
          <a:p>
            <a:pPr marL="124460" algn="ctr" eaLnBrk="1" fontAlgn="auto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TW" sz="1600" spc="100">
                <a:latin typeface="Arial Black"/>
                <a:ea typeface="MingLiU"/>
              </a:rPr>
              <a:t>製作過程</a:t>
            </a:r>
          </a:p>
          <a:p>
            <a:pPr eaLnBrk="1" fontAlgn="auto" hangingPunct="1">
              <a:lnSpc>
                <a:spcPts val="3600"/>
              </a:lnSpc>
              <a:spcBef>
                <a:spcPts val="0"/>
              </a:spcBef>
              <a:spcAft>
                <a:spcPts val="1890"/>
              </a:spcAft>
              <a:defRPr/>
            </a:pPr>
            <a:r>
              <a:rPr lang="zh-TW" sz="1600" spc="200">
                <a:latin typeface="Arial Black"/>
                <a:ea typeface="MingLiU"/>
              </a:rPr>
              <a:t>材料為泡棉墊厚度1公分直徑</a:t>
            </a:r>
            <a:r>
              <a:rPr lang="en-US" sz="1600" spc="200" dirty="0">
                <a:latin typeface="Arial Black"/>
              </a:rPr>
              <a:t>6.6</a:t>
            </a:r>
            <a:r>
              <a:rPr lang="zh-TW" sz="1600" spc="200">
                <a:latin typeface="Arial Black"/>
                <a:ea typeface="MingLiU"/>
              </a:rPr>
              <a:t>髙16公分之容器 </a:t>
            </a:r>
            <a:r>
              <a:rPr lang="zh-TW" sz="1600" spc="100">
                <a:latin typeface="Arial Black"/>
                <a:ea typeface="MingLiU"/>
              </a:rPr>
              <a:t>先使用泡棉包覆住瓶身，再用強力膠固定，然後重複包覆4層，增加 其隔熱</a:t>
            </a:r>
            <a:r>
              <a:rPr lang="zh-TW" sz="1300" spc="100">
                <a:latin typeface="Arial Black"/>
                <a:ea typeface="MingLiU"/>
              </a:rPr>
              <a:t>厚度。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F00568-D1A9-4050-9B8A-5E32EEDDF982}"/>
              </a:ext>
            </a:extLst>
          </p:cNvPr>
          <p:cNvSpPr/>
          <p:nvPr/>
        </p:nvSpPr>
        <p:spPr>
          <a:xfrm>
            <a:off x="1216520" y="6792261"/>
            <a:ext cx="5364162" cy="1328738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ts val="17225"/>
              </a:spcBef>
              <a:spcAft>
                <a:spcPts val="425"/>
              </a:spcAft>
            </a:pPr>
            <a:r>
              <a:rPr lang="zh-TW" altLang="en-US" sz="1600">
                <a:latin typeface="Arial Black"/>
                <a:ea typeface="MingLiU"/>
              </a:rPr>
              <a:t>然後再使用泡棉包覆瓶底，厚度一樣包覆4層。</a:t>
            </a:r>
          </a:p>
          <a:p>
            <a:endParaRPr lang="zh-TW"/>
          </a:p>
          <a:p>
            <a:endParaRPr lang="zh-TW">
              <a:cs typeface="Calibri" panose="020F0502020204030204" pitchFamily="34" charset="0"/>
            </a:endParaRPr>
          </a:p>
          <a:p>
            <a:endParaRPr lang="zh-TW">
              <a:cs typeface="Calibri" panose="020F0502020204030204" pitchFamily="34" charset="0"/>
            </a:endParaRPr>
          </a:p>
        </p:txBody>
      </p:sp>
      <p:pic>
        <p:nvPicPr>
          <p:cNvPr id="2" name="圖片 4" descr="一張含有 桌, 室內, 坐, 書桌 的圖片&#10;&#10;描述是以非常高的可信度產生">
            <a:extLst>
              <a:ext uri="{FF2B5EF4-FFF2-40B4-BE49-F238E27FC236}">
                <a16:creationId xmlns:a16="http://schemas.microsoft.com/office/drawing/2014/main" id="{B309E6B7-F250-4D74-AE60-386BEF33E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1328" y="7733373"/>
            <a:ext cx="2741421" cy="2044398"/>
          </a:xfrm>
          <a:prstGeom prst="rect">
            <a:avLst/>
          </a:prstGeom>
        </p:spPr>
      </p:pic>
      <p:pic>
        <p:nvPicPr>
          <p:cNvPr id="6" name="圖片 6" descr="一張含有 室內, 桌, 坐, 木製的 的圖片&#10;&#10;描述是以非常高的可信度產生">
            <a:extLst>
              <a:ext uri="{FF2B5EF4-FFF2-40B4-BE49-F238E27FC236}">
                <a16:creationId xmlns:a16="http://schemas.microsoft.com/office/drawing/2014/main" id="{8671C780-C888-4E11-AAD9-74FB7B664D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905" y="7736943"/>
            <a:ext cx="2741421" cy="203682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1">
            <a:extLst>
              <a:ext uri="{FF2B5EF4-FFF2-40B4-BE49-F238E27FC236}">
                <a16:creationId xmlns:a16="http://schemas.microsoft.com/office/drawing/2014/main" id="{6A045D0F-103C-4854-809E-50D629CCC4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438" y="4745038"/>
            <a:ext cx="5572125" cy="326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B059E02-1FDB-4BCC-BE6C-70B953F562D3}"/>
              </a:ext>
            </a:extLst>
          </p:cNvPr>
          <p:cNvSpPr/>
          <p:nvPr/>
        </p:nvSpPr>
        <p:spPr>
          <a:xfrm>
            <a:off x="1136650" y="4333875"/>
            <a:ext cx="4946650" cy="198438"/>
          </a:xfrm>
          <a:prstGeom prst="rect">
            <a:avLst/>
          </a:prstGeom>
        </p:spPr>
        <p:txBody>
          <a:bodyPr wrap="none" lIns="0" tIns="0" rIns="0" bIns="0" anchor="t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TW" sz="1600" spc="100">
                <a:latin typeface="Arial Black"/>
                <a:ea typeface="MingLiU"/>
              </a:rPr>
              <a:t>再切一個圓柱髙和直徑</a:t>
            </a:r>
            <a:r>
              <a:rPr lang="en-US" sz="1600" spc="100" dirty="0">
                <a:latin typeface="Arial Black"/>
              </a:rPr>
              <a:t>4</a:t>
            </a:r>
            <a:r>
              <a:rPr lang="zh-TW" sz="1600" spc="100">
                <a:latin typeface="Arial Black"/>
                <a:ea typeface="MingLiU"/>
              </a:rPr>
              <a:t>公分的泡棉墊，製作瓶蓋的隔熱外殼。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76CD17-5789-44D3-A67B-B49EA1BD2624}"/>
              </a:ext>
            </a:extLst>
          </p:cNvPr>
          <p:cNvSpPr/>
          <p:nvPr/>
        </p:nvSpPr>
        <p:spPr>
          <a:xfrm>
            <a:off x="3733800" y="9929813"/>
            <a:ext cx="95250" cy="119062"/>
          </a:xfrm>
          <a:prstGeom prst="rect">
            <a:avLst/>
          </a:prstGeom>
        </p:spPr>
        <p:txBody>
          <a:bodyPr wrap="none"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TW" sz="950" spc="-50">
                <a:latin typeface="Consolas"/>
                <a:ea typeface="Consolas"/>
              </a:rPr>
              <a:t>4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1">
            <a:extLst>
              <a:ext uri="{FF2B5EF4-FFF2-40B4-BE49-F238E27FC236}">
                <a16:creationId xmlns:a16="http://schemas.microsoft.com/office/drawing/2014/main" id="{EC425F12-F032-44CB-8CD3-64BB39D56B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825" y="962361"/>
            <a:ext cx="5165725" cy="365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2">
            <a:extLst>
              <a:ext uri="{FF2B5EF4-FFF2-40B4-BE49-F238E27FC236}">
                <a16:creationId xmlns:a16="http://schemas.microsoft.com/office/drawing/2014/main" id="{4034E08C-C232-4DA2-8032-7D2C53B30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825" y="6251300"/>
            <a:ext cx="5529263" cy="266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DB65600-C505-4435-91A0-93E4D4627C28}"/>
              </a:ext>
            </a:extLst>
          </p:cNvPr>
          <p:cNvSpPr/>
          <p:nvPr/>
        </p:nvSpPr>
        <p:spPr>
          <a:xfrm>
            <a:off x="1177003" y="5595854"/>
            <a:ext cx="2265363" cy="195263"/>
          </a:xfrm>
          <a:prstGeom prst="rect">
            <a:avLst/>
          </a:prstGeom>
        </p:spPr>
        <p:txBody>
          <a:bodyPr wrap="none" lIns="0" tIns="0" rIns="0" bIns="0" anchor="t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TW" sz="1600" spc="100">
                <a:latin typeface="Arial Black"/>
                <a:ea typeface="MingLiU"/>
              </a:rPr>
              <a:t>倒入熱水後馬上將瓶蓋關閉。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1">
            <a:extLst>
              <a:ext uri="{FF2B5EF4-FFF2-40B4-BE49-F238E27FC236}">
                <a16:creationId xmlns:a16="http://schemas.microsoft.com/office/drawing/2014/main" id="{891A3477-9871-4587-A303-85BFB742A7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331" y="1491679"/>
            <a:ext cx="5608637" cy="3624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2">
            <a:extLst>
              <a:ext uri="{FF2B5EF4-FFF2-40B4-BE49-F238E27FC236}">
                <a16:creationId xmlns:a16="http://schemas.microsoft.com/office/drawing/2014/main" id="{D2E132E1-9814-4956-ABC6-19A81CCD8D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668" y="6643899"/>
            <a:ext cx="3263900" cy="239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A179BAC-076F-4FAD-AE4D-79BE42E147AD}"/>
              </a:ext>
            </a:extLst>
          </p:cNvPr>
          <p:cNvSpPr/>
          <p:nvPr/>
        </p:nvSpPr>
        <p:spPr>
          <a:xfrm>
            <a:off x="1042493" y="1131316"/>
            <a:ext cx="4273550" cy="195263"/>
          </a:xfrm>
          <a:prstGeom prst="rect">
            <a:avLst/>
          </a:prstGeom>
        </p:spPr>
        <p:txBody>
          <a:bodyPr wrap="none" lIns="0" tIns="0" rIns="0" bIns="0" anchor="t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TW" sz="1600" spc="100">
                <a:latin typeface="Arial Black"/>
                <a:ea typeface="MingLiU"/>
              </a:rPr>
              <a:t>瓶蓋關閉後，再使用膠帶將其封死，以免熱從縫隙散出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29ABC0-B780-46DD-A1BD-23C4C3977F81}"/>
              </a:ext>
            </a:extLst>
          </p:cNvPr>
          <p:cNvSpPr/>
          <p:nvPr/>
        </p:nvSpPr>
        <p:spPr>
          <a:xfrm>
            <a:off x="1042493" y="5703316"/>
            <a:ext cx="2265363" cy="198438"/>
          </a:xfrm>
          <a:prstGeom prst="rect">
            <a:avLst/>
          </a:prstGeom>
        </p:spPr>
        <p:txBody>
          <a:bodyPr wrap="none" lIns="0" tIns="0" rIns="0" bIns="0" anchor="t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TW" sz="1600" spc="100">
                <a:latin typeface="Arial Black"/>
                <a:ea typeface="MingLiU"/>
              </a:rPr>
              <a:t>製作完成，並開始計算溫度。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1">
            <a:extLst>
              <a:ext uri="{FF2B5EF4-FFF2-40B4-BE49-F238E27FC236}">
                <a16:creationId xmlns:a16="http://schemas.microsoft.com/office/drawing/2014/main" id="{443684F5-B0FC-40D8-B082-7EA4FDD8F2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157" y="2835667"/>
            <a:ext cx="5818188" cy="280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6E95818-4EC7-4834-B4DD-F8874CFAD7E6}"/>
              </a:ext>
            </a:extLst>
          </p:cNvPr>
          <p:cNvSpPr/>
          <p:nvPr/>
        </p:nvSpPr>
        <p:spPr>
          <a:xfrm>
            <a:off x="2290987" y="1049261"/>
            <a:ext cx="1284288" cy="217488"/>
          </a:xfrm>
          <a:prstGeom prst="rect">
            <a:avLst/>
          </a:prstGeom>
        </p:spPr>
        <p:txBody>
          <a:bodyPr wrap="none" lIns="0" tIns="0" rIns="0" bIns="0" anchor="t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TW" sz="2800" spc="100">
                <a:latin typeface="Arial Black"/>
                <a:ea typeface="MingLiU"/>
              </a:rPr>
              <a:t>溫度時間圖</a:t>
            </a:r>
            <a:r>
              <a:rPr lang="en-US" sz="2800" spc="-50" dirty="0">
                <a:latin typeface="Arial Black"/>
              </a:rPr>
              <a:t>(T</a:t>
            </a:r>
            <a:r>
              <a:rPr lang="en-US" sz="2800" spc="100" dirty="0">
                <a:latin typeface="Arial Black"/>
              </a:rPr>
              <a:t> -</a:t>
            </a:r>
            <a:r>
              <a:rPr lang="en-US" sz="2800" spc="-50" dirty="0">
                <a:latin typeface="Arial Black"/>
              </a:rPr>
              <a:t>T</a:t>
            </a:r>
            <a:r>
              <a:rPr lang="en-US" sz="2800" spc="100" dirty="0">
                <a:latin typeface="Arial Black"/>
              </a:rPr>
              <a:t>)</a:t>
            </a:r>
            <a:endParaRPr lang="en-US" sz="2800" spc="100">
              <a:latin typeface="Arial Black"/>
              <a:ea typeface="MingLiU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DF56E1-9D6A-4CE0-A7F1-F50D7A7136AD}"/>
              </a:ext>
            </a:extLst>
          </p:cNvPr>
          <p:cNvSpPr/>
          <p:nvPr/>
        </p:nvSpPr>
        <p:spPr>
          <a:xfrm>
            <a:off x="1136650" y="9134475"/>
            <a:ext cx="768350" cy="195263"/>
          </a:xfrm>
          <a:prstGeom prst="rect">
            <a:avLst/>
          </a:prstGeom>
        </p:spPr>
        <p:txBody>
          <a:bodyPr wrap="none" lIns="0" tIns="0" rIns="0" bIns="0" anchor="t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sz="1300" spc="100" dirty="0">
              <a:latin typeface="MingLiU"/>
              <a:ea typeface="MingLiU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4CC5A0-E3EE-41C6-AB55-919D54E83154}"/>
              </a:ext>
            </a:extLst>
          </p:cNvPr>
          <p:cNvSpPr/>
          <p:nvPr/>
        </p:nvSpPr>
        <p:spPr>
          <a:xfrm>
            <a:off x="3736975" y="9929813"/>
            <a:ext cx="88900" cy="119062"/>
          </a:xfrm>
          <a:prstGeom prst="rect">
            <a:avLst/>
          </a:prstGeom>
        </p:spPr>
        <p:txBody>
          <a:bodyPr wrap="none"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TW" sz="950" spc="-50">
                <a:latin typeface="Consolas"/>
                <a:ea typeface="Consolas"/>
              </a:rPr>
              <a:t>7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1">
            <a:extLst>
              <a:ext uri="{FF2B5EF4-FFF2-40B4-BE49-F238E27FC236}">
                <a16:creationId xmlns:a16="http://schemas.microsoft.com/office/drawing/2014/main" id="{406386E3-9000-47E3-8CE9-A05F3855BE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6804" y="1692367"/>
            <a:ext cx="5278438" cy="301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60507D1-571E-47BA-B3DB-6F682B1F5D9E}"/>
              </a:ext>
            </a:extLst>
          </p:cNvPr>
          <p:cNvSpPr/>
          <p:nvPr/>
        </p:nvSpPr>
        <p:spPr>
          <a:xfrm>
            <a:off x="3736975" y="9929813"/>
            <a:ext cx="92075" cy="119062"/>
          </a:xfrm>
          <a:prstGeom prst="rect">
            <a:avLst/>
          </a:prstGeom>
        </p:spPr>
        <p:txBody>
          <a:bodyPr wrap="none"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TW" sz="950" spc="-50">
                <a:latin typeface="Consolas"/>
                <a:ea typeface="Consolas"/>
              </a:rPr>
              <a:t>8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024DBED8-F9B1-4C73-AB83-48B968422AA3}"/>
              </a:ext>
            </a:extLst>
          </p:cNvPr>
          <p:cNvSpPr txBox="1"/>
          <p:nvPr/>
        </p:nvSpPr>
        <p:spPr>
          <a:xfrm>
            <a:off x="2409825" y="500608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TW">
                <a:latin typeface="Arial Black"/>
                <a:ea typeface="新細明體"/>
                <a:cs typeface="Calibri"/>
              </a:rPr>
              <a:t>計算理論熱散失</a:t>
            </a:r>
            <a:endParaRPr lang="zh-TW">
              <a:latin typeface="Arial Black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AD6F828-3F99-4E42-B178-582DAC2C0AF2}"/>
              </a:ext>
            </a:extLst>
          </p:cNvPr>
          <p:cNvSpPr/>
          <p:nvPr/>
        </p:nvSpPr>
        <p:spPr>
          <a:xfrm>
            <a:off x="1191287" y="1143048"/>
            <a:ext cx="753622" cy="261769"/>
          </a:xfrm>
          <a:prstGeom prst="rect">
            <a:avLst/>
          </a:prstGeom>
        </p:spPr>
        <p:txBody>
          <a:bodyPr wrap="none" lIns="0" tIns="0" rIns="0" bIns="0" anchor="t"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spc="100">
                <a:latin typeface="Arial Black"/>
                <a:ea typeface="MingLiU"/>
                <a:cs typeface="Calibri"/>
              </a:rPr>
              <a:t>總能量法</a:t>
            </a:r>
            <a:r>
              <a:rPr lang="zh-CN" sz="1600" spc="100">
                <a:latin typeface="Arial Black"/>
                <a:ea typeface="MingLiU"/>
                <a:cs typeface="Calibri"/>
              </a:rPr>
              <a:t>:</a:t>
            </a:r>
            <a:endParaRPr lang="zh-TW" altLang="en-US" sz="1600">
              <a:latin typeface="Arial Black"/>
              <a:ea typeface="新細明體"/>
              <a:cs typeface="Calibri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B9B947CF-2BFE-4047-A50A-39F5C1952F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0961" y="1652228"/>
            <a:ext cx="3870325" cy="407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7E948EC0-4E36-4496-AF80-D282938CBD6E}"/>
              </a:ext>
            </a:extLst>
          </p:cNvPr>
          <p:cNvSpPr/>
          <p:nvPr/>
        </p:nvSpPr>
        <p:spPr>
          <a:xfrm>
            <a:off x="1284612" y="1304565"/>
            <a:ext cx="592138" cy="180975"/>
          </a:xfrm>
          <a:prstGeom prst="rect">
            <a:avLst/>
          </a:prstGeom>
        </p:spPr>
        <p:txBody>
          <a:bodyPr wrap="none" lIns="0" tIns="0" rIns="0" bIns="0" anchor="t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TW" sz="1600" spc="100">
                <a:latin typeface="Arial Black"/>
                <a:ea typeface="MingLiU"/>
              </a:rPr>
              <a:t>熱組法</a:t>
            </a:r>
            <a:r>
              <a:rPr lang="zh-CN" sz="1600" spc="100">
                <a:latin typeface="Arial Black"/>
                <a:ea typeface="MingLiU"/>
              </a:rPr>
              <a:t>:</a:t>
            </a:r>
          </a:p>
        </p:txBody>
      </p:sp>
      <p:pic>
        <p:nvPicPr>
          <p:cNvPr id="4" name="圖片 4">
            <a:extLst>
              <a:ext uri="{FF2B5EF4-FFF2-40B4-BE49-F238E27FC236}">
                <a16:creationId xmlns:a16="http://schemas.microsoft.com/office/drawing/2014/main" id="{0C0E9A43-C396-446A-BD9A-98D2DE945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2533" y="5732001"/>
            <a:ext cx="5580854" cy="3288638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D1AFC08C-45AA-4AA4-9903-337E542A8593}"/>
              </a:ext>
            </a:extLst>
          </p:cNvPr>
          <p:cNvSpPr txBox="1"/>
          <p:nvPr/>
        </p:nvSpPr>
        <p:spPr>
          <a:xfrm>
            <a:off x="1279938" y="9222534"/>
            <a:ext cx="520583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>
                <a:latin typeface="Arial Black"/>
                <a:cs typeface="Calibri"/>
              </a:rPr>
              <a:t>因此理論溫度為30.32度C</a:t>
            </a:r>
            <a:endParaRPr lang="zh-TW">
              <a:latin typeface="Arial Black"/>
            </a:endParaRPr>
          </a:p>
          <a:p>
            <a:r>
              <a:rPr lang="zh-TW">
                <a:latin typeface="Arial Black"/>
                <a:cs typeface="Calibri"/>
              </a:rPr>
              <a:t>但實際:瓶身溫度降低到28.5度C</a:t>
            </a:r>
            <a:endParaRPr lang="zh-TW">
              <a:latin typeface="Arial Black"/>
            </a:endParaRPr>
          </a:p>
          <a:p>
            <a:pPr algn="l"/>
            <a:endParaRPr lang="zh-TW" altLang="en-US" dirty="0">
              <a:latin typeface="Arial Black"/>
              <a:ea typeface="新細明體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40708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1BF861-7DB3-4B07-8B68-0A43ACE23A8D}"/>
              </a:ext>
            </a:extLst>
          </p:cNvPr>
          <p:cNvSpPr/>
          <p:nvPr/>
        </p:nvSpPr>
        <p:spPr>
          <a:xfrm>
            <a:off x="1243013" y="1262063"/>
            <a:ext cx="1927225" cy="393700"/>
          </a:xfrm>
          <a:prstGeom prst="rect">
            <a:avLst/>
          </a:prstGeom>
        </p:spPr>
        <p:txBody>
          <a:bodyPr wrap="none" lIns="0" tIns="0" rIns="0" bIns="0" anchor="t"/>
          <a:lstStyle/>
          <a:p>
            <a:pPr algn="just" eaLnBrk="1" fontAlgn="auto" hangingPunct="1">
              <a:lnSpc>
                <a:spcPts val="4464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300" spc="1250" dirty="0">
              <a:solidFill>
                <a:srgbClr val="00A2E7"/>
              </a:solidFill>
              <a:latin typeface="MingLiU"/>
              <a:ea typeface="MingLiU"/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0D176D82-5FFF-4CFB-A011-197DCF3402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5388" y="1792288"/>
            <a:ext cx="126365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t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lnSpc>
                <a:spcPts val="4463"/>
              </a:lnSpc>
            </a:pPr>
            <a:endParaRPr lang="zh-TW" altLang="en-US" dirty="0">
              <a:solidFill>
                <a:srgbClr val="00A2E7"/>
              </a:solidFill>
              <a:latin typeface="MingLiU"/>
              <a:ea typeface="MingLiU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F8964F-66C9-4741-A0F7-D8429641394F}"/>
              </a:ext>
            </a:extLst>
          </p:cNvPr>
          <p:cNvSpPr/>
          <p:nvPr/>
        </p:nvSpPr>
        <p:spPr>
          <a:xfrm>
            <a:off x="3644900" y="2189163"/>
            <a:ext cx="1524000" cy="468312"/>
          </a:xfrm>
          <a:prstGeom prst="rect">
            <a:avLst/>
          </a:prstGeom>
        </p:spPr>
        <p:txBody>
          <a:bodyPr wrap="none" lIns="0" tIns="0" rIns="0" bIns="0" anchor="t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sz="1700" spc="300" dirty="0">
              <a:solidFill>
                <a:srgbClr val="00A2E7"/>
              </a:solidFill>
              <a:latin typeface="MingLiU"/>
              <a:ea typeface="MingLiU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EF5972-C2BF-4211-8180-7AE92F16CB0F}"/>
              </a:ext>
            </a:extLst>
          </p:cNvPr>
          <p:cNvSpPr/>
          <p:nvPr/>
        </p:nvSpPr>
        <p:spPr>
          <a:xfrm>
            <a:off x="1908175" y="3333750"/>
            <a:ext cx="1146175" cy="439738"/>
          </a:xfrm>
          <a:prstGeom prst="rect">
            <a:avLst/>
          </a:prstGeom>
        </p:spPr>
        <p:txBody>
          <a:bodyPr wrap="none" lIns="0" tIns="0" rIns="0" bIns="0" anchor="t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300" cap="small" spc="-150" dirty="0">
              <a:solidFill>
                <a:srgbClr val="00A2E7"/>
              </a:solidFill>
              <a:latin typeface="Gulim"/>
              <a:ea typeface="Gulim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8EB504-1CE9-4272-9B6B-42A9A24B6834}"/>
              </a:ext>
            </a:extLst>
          </p:cNvPr>
          <p:cNvSpPr/>
          <p:nvPr/>
        </p:nvSpPr>
        <p:spPr>
          <a:xfrm>
            <a:off x="1692724" y="2041285"/>
            <a:ext cx="2817813" cy="1212850"/>
          </a:xfrm>
          <a:prstGeom prst="rect">
            <a:avLst/>
          </a:prstGeom>
        </p:spPr>
        <p:txBody>
          <a:bodyPr lIns="0" tIns="0" rIns="0" bIns="0" anchor="t"/>
          <a:lstStyle/>
          <a:p>
            <a:pPr eaLnBrk="1" fontAlgn="auto" hangingPunct="1">
              <a:spcBef>
                <a:spcPts val="2940"/>
              </a:spcBef>
              <a:spcAft>
                <a:spcPts val="1260"/>
              </a:spcAft>
              <a:defRPr/>
            </a:pPr>
            <a:endParaRPr lang="zh-TW" sz="1700" spc="300" dirty="0">
              <a:solidFill>
                <a:srgbClr val="00A2E7"/>
              </a:solidFill>
              <a:latin typeface="MingLiU"/>
              <a:ea typeface="MingLiU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E63D3E-05A4-4EA0-9EEA-9FB454814FAA}"/>
              </a:ext>
            </a:extLst>
          </p:cNvPr>
          <p:cNvSpPr/>
          <p:nvPr/>
        </p:nvSpPr>
        <p:spPr>
          <a:xfrm>
            <a:off x="1136650" y="4333875"/>
            <a:ext cx="2603500" cy="655638"/>
          </a:xfrm>
          <a:prstGeom prst="rect">
            <a:avLst/>
          </a:prstGeom>
        </p:spPr>
        <p:txBody>
          <a:bodyPr lIns="0" tIns="0" rIns="0" bIns="0" anchor="t"/>
          <a:lstStyle/>
          <a:p>
            <a:pPr eaLnBrk="1" fontAlgn="auto" hangingPunct="1">
              <a:lnSpc>
                <a:spcPts val="3600"/>
              </a:lnSpc>
              <a:spcBef>
                <a:spcPts val="1260"/>
              </a:spcBef>
              <a:spcAft>
                <a:spcPts val="12390"/>
              </a:spcAft>
              <a:defRPr/>
            </a:pPr>
            <a:endParaRPr lang="en-US" sz="1400" spc="-50" dirty="0">
              <a:latin typeface="Gulim"/>
              <a:ea typeface="Gulim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28B11B-4CAA-4340-8426-DBB62568F0B5}"/>
              </a:ext>
            </a:extLst>
          </p:cNvPr>
          <p:cNvSpPr/>
          <p:nvPr/>
        </p:nvSpPr>
        <p:spPr>
          <a:xfrm>
            <a:off x="1136662" y="1261697"/>
            <a:ext cx="5213424" cy="5089548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zh-TW" altLang="en-US" sz="2400">
                <a:latin typeface="Comic Sans MS"/>
                <a:ea typeface="MingLiU"/>
                <a:cs typeface="Calibri"/>
              </a:rPr>
              <a:t>最佳化</a:t>
            </a:r>
            <a:endParaRPr lang="zh-TW" altLang="en-US" sz="2400">
              <a:latin typeface="Comic Sans MS"/>
              <a:ea typeface="新細明體"/>
            </a:endParaRPr>
          </a:p>
          <a:p>
            <a:pPr algn="ctr"/>
            <a:endParaRPr lang="zh-TW" altLang="en-US" sz="2400" dirty="0">
              <a:latin typeface="Arial Black"/>
              <a:ea typeface="MingLiU"/>
              <a:cs typeface="Calibri"/>
            </a:endParaRPr>
          </a:p>
          <a:p>
            <a:pPr algn="ctr"/>
            <a:r>
              <a:rPr lang="zh-TW">
                <a:latin typeface="Arial Black"/>
                <a:ea typeface="MingLiU"/>
                <a:cs typeface="Calibri"/>
              </a:rPr>
              <a:t>我們所使用的泡棉熱導率</a:t>
            </a:r>
            <a:r>
              <a:rPr lang="en-US" altLang="zh-TW" dirty="0">
                <a:latin typeface="Arial Black"/>
                <a:ea typeface="新細明體"/>
                <a:cs typeface="Calibri"/>
              </a:rPr>
              <a:t>K</a:t>
            </a:r>
            <a:r>
              <a:rPr lang="en-US" altLang="zh-TW" dirty="0">
                <a:latin typeface="Arial Black"/>
                <a:ea typeface="MingLiU"/>
                <a:cs typeface="Calibri"/>
              </a:rPr>
              <a:t>=0.1(</a:t>
            </a:r>
            <a:r>
              <a:rPr lang="en-US" altLang="zh-TW" dirty="0">
                <a:latin typeface="Arial Black"/>
                <a:ea typeface="新細明體"/>
                <a:cs typeface="Calibri"/>
              </a:rPr>
              <a:t>W</a:t>
            </a:r>
            <a:r>
              <a:rPr lang="en-US" altLang="zh-TW" dirty="0">
                <a:latin typeface="Arial Black"/>
                <a:ea typeface="MingLiU"/>
                <a:cs typeface="Calibri"/>
              </a:rPr>
              <a:t>/</a:t>
            </a:r>
            <a:r>
              <a:rPr lang="en-US" altLang="zh-TW" err="1">
                <a:latin typeface="Arial Black"/>
                <a:ea typeface="新細明體"/>
                <a:cs typeface="Calibri"/>
              </a:rPr>
              <a:t>m</a:t>
            </a:r>
            <a:r>
              <a:rPr lang="en-US" altLang="zh-TW" err="1">
                <a:latin typeface="Arial Black"/>
                <a:ea typeface="MingLiU"/>
                <a:cs typeface="Calibri"/>
              </a:rPr>
              <a:t>‧</a:t>
            </a:r>
            <a:r>
              <a:rPr lang="en-US" altLang="zh-TW" err="1">
                <a:latin typeface="Arial Black"/>
                <a:ea typeface="新細明體"/>
                <a:cs typeface="Calibri"/>
              </a:rPr>
              <a:t>K</a:t>
            </a:r>
            <a:r>
              <a:rPr lang="en-US" altLang="zh-TW" dirty="0">
                <a:latin typeface="Arial Black"/>
                <a:ea typeface="MingLiU"/>
                <a:cs typeface="Calibri"/>
              </a:rPr>
              <a:t>)</a:t>
            </a:r>
            <a:r>
              <a:rPr lang="zh-TW">
                <a:latin typeface="Arial Black"/>
                <a:ea typeface="MingLiU"/>
                <a:cs typeface="Calibri"/>
              </a:rPr>
              <a:t>，在進行組裝時，因怕熱散失，而重複覆蓋4層泡棉，可是沒有預留空隙，導致瓶內的溫度直接經過瓶身和泡棉的傳導直接將熱散失到空氣，所以熱散失的速率很快。如果改用熱導率為</a:t>
            </a:r>
            <a:r>
              <a:rPr lang="en-US" altLang="zh-TW" dirty="0">
                <a:latin typeface="Arial Black"/>
                <a:ea typeface="新細明體"/>
                <a:cs typeface="Calibri"/>
              </a:rPr>
              <a:t>K</a:t>
            </a:r>
            <a:r>
              <a:rPr lang="en-US" altLang="zh-TW" dirty="0">
                <a:latin typeface="Arial Black"/>
                <a:ea typeface="MingLiU"/>
                <a:cs typeface="Calibri"/>
              </a:rPr>
              <a:t>=0.032(</a:t>
            </a:r>
            <a:r>
              <a:rPr lang="en-US" altLang="zh-TW" dirty="0">
                <a:latin typeface="Arial Black"/>
                <a:ea typeface="新細明體"/>
                <a:cs typeface="Calibri"/>
              </a:rPr>
              <a:t>W</a:t>
            </a:r>
            <a:r>
              <a:rPr lang="en-US" altLang="zh-TW" dirty="0">
                <a:latin typeface="Arial Black"/>
                <a:ea typeface="MingLiU"/>
                <a:cs typeface="Calibri"/>
              </a:rPr>
              <a:t>/</a:t>
            </a:r>
            <a:r>
              <a:rPr lang="en-US" altLang="zh-TW" err="1">
                <a:latin typeface="Arial Black"/>
                <a:ea typeface="新細明體"/>
                <a:cs typeface="Calibri"/>
              </a:rPr>
              <a:t>m</a:t>
            </a:r>
            <a:r>
              <a:rPr lang="en-US" altLang="zh-TW" err="1">
                <a:latin typeface="Arial Black"/>
                <a:ea typeface="MingLiU"/>
                <a:cs typeface="Calibri"/>
              </a:rPr>
              <a:t>‧</a:t>
            </a:r>
            <a:r>
              <a:rPr lang="en-US" altLang="zh-TW" err="1">
                <a:latin typeface="Arial Black"/>
                <a:ea typeface="新細明體"/>
                <a:cs typeface="Calibri"/>
              </a:rPr>
              <a:t>k</a:t>
            </a:r>
            <a:r>
              <a:rPr lang="en-US" altLang="zh-TW" dirty="0">
                <a:latin typeface="Arial Black"/>
                <a:ea typeface="MingLiU"/>
                <a:cs typeface="Calibri"/>
              </a:rPr>
              <a:t>)</a:t>
            </a:r>
            <a:r>
              <a:rPr lang="zh-TW">
                <a:latin typeface="Arial Black"/>
                <a:ea typeface="MingLiU"/>
                <a:cs typeface="Calibri"/>
              </a:rPr>
              <a:t>的保麗龍，保溫的效果會更佳，且再改進中間空隙的間距，可以有效降低熱散失的速度，</a:t>
            </a:r>
            <a:endParaRPr lang="zh-TW">
              <a:latin typeface="Arial Black"/>
              <a:ea typeface="新細明體"/>
            </a:endParaRPr>
          </a:p>
          <a:p>
            <a:pPr algn="ctr"/>
            <a:endParaRPr lang="zh-TW" sz="2400" dirty="0">
              <a:latin typeface="Arial Black"/>
              <a:ea typeface="MingLiU" panose="02020509000000000000" pitchFamily="49" charset="-120"/>
              <a:cs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394709-260F-4764-96FA-4DAA918CE010}"/>
              </a:ext>
            </a:extLst>
          </p:cNvPr>
          <p:cNvSpPr/>
          <p:nvPr/>
        </p:nvSpPr>
        <p:spPr>
          <a:xfrm>
            <a:off x="3736975" y="9929813"/>
            <a:ext cx="88900" cy="119062"/>
          </a:xfrm>
          <a:prstGeom prst="rect">
            <a:avLst/>
          </a:prstGeom>
        </p:spPr>
        <p:txBody>
          <a:bodyPr wrap="none"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TW" sz="950" spc="-50">
                <a:latin typeface="Consolas"/>
                <a:ea typeface="Consolas"/>
              </a:rPr>
              <a:t>9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924D1B-67E6-436C-9901-6B88141E5953}"/>
              </a:ext>
            </a:extLst>
          </p:cNvPr>
          <p:cNvSpPr/>
          <p:nvPr/>
        </p:nvSpPr>
        <p:spPr>
          <a:xfrm>
            <a:off x="1318614" y="783521"/>
            <a:ext cx="5178425" cy="8428038"/>
          </a:xfrm>
          <a:prstGeom prst="rect">
            <a:avLst/>
          </a:prstGeom>
        </p:spPr>
        <p:txBody>
          <a:bodyPr lIns="0" tIns="0" rIns="0" bIns="0" anchor="t"/>
          <a:lstStyle/>
          <a:p>
            <a:pPr algn="just" eaLnBrk="1" fontAlgn="auto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zh-TW" spc="100" dirty="0">
              <a:latin typeface="MingLiU"/>
              <a:ea typeface="MingLiU"/>
            </a:endParaRPr>
          </a:p>
          <a:p>
            <a:pPr algn="ctr" eaLnBrk="1" fontAlgn="auto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TW" sz="2000" spc="100">
                <a:latin typeface="Comic Sans MS"/>
                <a:ea typeface="MingLiU"/>
              </a:rPr>
              <a:t>問題討論</a:t>
            </a:r>
            <a:endParaRPr lang="zh-TW" sz="2000" spc="100" dirty="0">
              <a:latin typeface="Comic Sans MS"/>
              <a:ea typeface="MingLiU"/>
            </a:endParaRPr>
          </a:p>
          <a:p>
            <a:pPr algn="just" eaLnBrk="1" fontAlgn="auto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pc="100" dirty="0">
                <a:latin typeface="Arial Black"/>
              </a:rPr>
              <a:t>1. </a:t>
            </a:r>
            <a:r>
              <a:rPr lang="zh-TW" spc="100">
                <a:latin typeface="Arial Black"/>
                <a:ea typeface="MingLiU"/>
              </a:rPr>
              <a:t>跟市場上保溫瓶比較哪個好？</a:t>
            </a:r>
          </a:p>
          <a:p>
            <a:pPr algn="just" eaLnBrk="1" fontAlgn="auto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pc="-50" dirty="0">
                <a:latin typeface="Arial Black"/>
              </a:rPr>
              <a:t>A</a:t>
            </a:r>
            <a:r>
              <a:rPr lang="en-US" spc="100" dirty="0">
                <a:latin typeface="Arial Black"/>
              </a:rPr>
              <a:t>:</a:t>
            </a:r>
            <a:r>
              <a:rPr lang="zh-TW" spc="100">
                <a:latin typeface="Arial Black"/>
                <a:ea typeface="MingLiU"/>
              </a:rPr>
              <a:t>當然是我們的比較差，因為我們使用的隔熱材質熱導率肯定比中 空的還要來的大。</a:t>
            </a:r>
          </a:p>
          <a:p>
            <a:pPr algn="just" eaLnBrk="1" fontAlgn="auto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pc="100" dirty="0">
                <a:latin typeface="Arial Black"/>
              </a:rPr>
              <a:t>2. </a:t>
            </a:r>
            <a:r>
              <a:rPr lang="zh-TW" spc="100">
                <a:latin typeface="Arial Black"/>
                <a:ea typeface="MingLiU"/>
              </a:rPr>
              <a:t>為什麼實際溫度與理論溫度相差5度左右？</a:t>
            </a:r>
          </a:p>
          <a:p>
            <a:pPr algn="just" eaLnBrk="1" fontAlgn="auto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pc="-50" dirty="0">
                <a:latin typeface="Arial Black"/>
              </a:rPr>
              <a:t>A</a:t>
            </a:r>
            <a:r>
              <a:rPr lang="en-US" spc="100" dirty="0">
                <a:latin typeface="Arial Black"/>
              </a:rPr>
              <a:t>:</a:t>
            </a:r>
            <a:r>
              <a:rPr lang="zh-TW" spc="100">
                <a:latin typeface="Arial Black"/>
                <a:ea typeface="MingLiU"/>
              </a:rPr>
              <a:t>因我們在組裝時，將泡棉緊緊包覆再一起，導致水溫從瓶身傳導 至泡棉，泡棉再直接以傳導的方式傳到空間，所以熱散較多。</a:t>
            </a:r>
          </a:p>
          <a:p>
            <a:pPr algn="just" eaLnBrk="1" fontAlgn="auto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pc="100" dirty="0">
                <a:latin typeface="Arial Black"/>
              </a:rPr>
              <a:t>3. </a:t>
            </a:r>
            <a:r>
              <a:rPr lang="zh-TW" spc="100">
                <a:latin typeface="Arial Black"/>
                <a:ea typeface="MingLiU"/>
              </a:rPr>
              <a:t>保溫的效果會不會不均勻？</a:t>
            </a:r>
          </a:p>
          <a:p>
            <a:pPr algn="just" eaLnBrk="1" fontAlgn="auto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pc="-50" dirty="0">
                <a:latin typeface="Arial Black"/>
              </a:rPr>
              <a:t>A</a:t>
            </a:r>
            <a:r>
              <a:rPr lang="en-US" spc="100" dirty="0">
                <a:latin typeface="Arial Black"/>
              </a:rPr>
              <a:t>:</a:t>
            </a:r>
            <a:r>
              <a:rPr lang="zh-TW" spc="100">
                <a:latin typeface="Arial Black"/>
                <a:ea typeface="MingLiU"/>
              </a:rPr>
              <a:t>不會，我們在瓶身、瓶底、瓶口全都以泡棉包覆4層的方式進行 保溫，雖然可能還是會有些微亮的差異。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210CE6-C534-4AC8-9F5A-D3F4FB193C6D}"/>
              </a:ext>
            </a:extLst>
          </p:cNvPr>
          <p:cNvSpPr/>
          <p:nvPr/>
        </p:nvSpPr>
        <p:spPr>
          <a:xfrm>
            <a:off x="3709988" y="9929813"/>
            <a:ext cx="149225" cy="119062"/>
          </a:xfrm>
          <a:prstGeom prst="rect">
            <a:avLst/>
          </a:prstGeom>
        </p:spPr>
        <p:txBody>
          <a:bodyPr wrap="none"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TW" sz="950" spc="-50">
                <a:latin typeface="Consolas"/>
                <a:ea typeface="Consolas"/>
              </a:rPr>
              <a:t>10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EC594E-5ADE-46FA-8098-8ABADE733885}"/>
              </a:ext>
            </a:extLst>
          </p:cNvPr>
          <p:cNvSpPr/>
          <p:nvPr/>
        </p:nvSpPr>
        <p:spPr>
          <a:xfrm>
            <a:off x="1230807" y="837360"/>
            <a:ext cx="5240338" cy="9101325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lang="zh-TW">
                <a:latin typeface="Comic Sans MS"/>
                <a:ea typeface="MingLiU"/>
              </a:rPr>
              <a:t>結論</a:t>
            </a:r>
            <a:endParaRPr lang="zh-TW">
              <a:latin typeface="Calibri"/>
              <a:ea typeface="MingLiU"/>
              <a:cs typeface="Calibri"/>
            </a:endParaRPr>
          </a:p>
          <a:p>
            <a:pPr algn="just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lang="zh-TW" sz="1400" dirty="0">
                <a:latin typeface="Arial Black"/>
                <a:ea typeface="MingLiU"/>
              </a:rPr>
              <a:t>從這次的專題中，我學習到了如何設計一個保溫瓶，從它的內膽購 買，到內層的選擇和組裝，到最後的分析，不管在哪個階段都值得 </a:t>
            </a:r>
            <a:r>
              <a:rPr lang="zh-TW" sz="1400">
                <a:latin typeface="Arial Black"/>
                <a:ea typeface="MingLiU"/>
              </a:rPr>
              <a:t>我們去學習，像是內膽的部分如果選用玻璃的話，因玻璃的導熱較 慢所以測量出來的結果剛開始會偏低，過一段時間後才會發現溫度 的上升。內層的話我們第一次的選擇是房屋建造時所使用的發泡劑，可以有效地降低熱散失，組裝時也是一大問題，像我們因為沒有注意好發泡劑的量所以當他開始膨脹時，瓶身遭到發泡劑擠壓變形，</a:t>
            </a:r>
            <a:r>
              <a:rPr lang="zh-TW" altLang="en-US" sz="1400">
                <a:latin typeface="Arial Black"/>
                <a:ea typeface="MingLiU"/>
              </a:rPr>
              <a:t>雖然並不影響測量結果，但是很可惜的最後因熱電偶短路所以無法測量出結果，不過也藉由這次的失敗進行改進，造成溫度下降最大的重點在於瓶蓋，雖然是因熱電偶短路才無法測量，但我相信就算熱電偶是良好的，最後也會降低到室溫，而且我發現不只是我們有這個問題，許多組別都用心在瓶身的部分而遺忘了瓶蓋的熱散失。藉由第一次的經驗，我們重新作了一個使用泡棉墊當作內層的保溫瓶，雖然隔熱效果並不如發泡劑來的好，但相對好控制許多。最後分析時雖然理論跟實際的有些誤差但是誤差並不大，也藉由這次的分析讓我了解如何運用熱傳遞所學習到的公式，讓我對這些算是更佳的熟悉，所以我們從這專題中學習到了很多。</a:t>
            </a:r>
            <a:endParaRPr lang="zh-TW" sz="1400">
              <a:latin typeface="Arial Black"/>
              <a:ea typeface="新細明體"/>
              <a:cs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35ABF5-191A-4C97-A216-7467AF3B1EA7}"/>
              </a:ext>
            </a:extLst>
          </p:cNvPr>
          <p:cNvSpPr/>
          <p:nvPr/>
        </p:nvSpPr>
        <p:spPr>
          <a:xfrm>
            <a:off x="3709988" y="9929813"/>
            <a:ext cx="149225" cy="119062"/>
          </a:xfrm>
          <a:prstGeom prst="rect">
            <a:avLst/>
          </a:prstGeom>
        </p:spPr>
        <p:txBody>
          <a:bodyPr wrap="none"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TW" sz="950" spc="-50">
                <a:latin typeface="Consolas"/>
                <a:ea typeface="Consolas"/>
              </a:rPr>
              <a:t>11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4D6DFE-5839-467B-8ED1-2D453B99FDDA}"/>
              </a:ext>
            </a:extLst>
          </p:cNvPr>
          <p:cNvSpPr/>
          <p:nvPr/>
        </p:nvSpPr>
        <p:spPr>
          <a:xfrm>
            <a:off x="1136650" y="1133475"/>
            <a:ext cx="5240338" cy="3398838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ts val="3600"/>
              </a:lnSpc>
            </a:pPr>
            <a:endParaRPr lang="zh-TW" altLang="en-US" sz="1300" dirty="0">
              <a:latin typeface="MingLiU" panose="02020509000000000000" pitchFamily="49" charset="-120"/>
              <a:ea typeface="MingLiU" panose="02020509000000000000" pitchFamily="49" charset="-12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EF8255-482E-4B9E-A469-DA24249878B7}"/>
              </a:ext>
            </a:extLst>
          </p:cNvPr>
          <p:cNvSpPr/>
          <p:nvPr/>
        </p:nvSpPr>
        <p:spPr>
          <a:xfrm>
            <a:off x="3709988" y="9929813"/>
            <a:ext cx="146050" cy="119062"/>
          </a:xfrm>
          <a:prstGeom prst="rect">
            <a:avLst/>
          </a:prstGeom>
        </p:spPr>
        <p:txBody>
          <a:bodyPr wrap="none"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TW" sz="950" spc="-50">
                <a:latin typeface="Consolas"/>
                <a:ea typeface="Consolas"/>
              </a:rPr>
              <a:t>12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E21F88E-3756-4E49-B023-5537D7012E0C}"/>
              </a:ext>
            </a:extLst>
          </p:cNvPr>
          <p:cNvSpPr txBox="1"/>
          <p:nvPr/>
        </p:nvSpPr>
        <p:spPr>
          <a:xfrm>
            <a:off x="3082377" y="4834651"/>
            <a:ext cx="2743199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TW" altLang="en-US" sz="4400">
                <a:solidFill>
                  <a:schemeClr val="accent2">
                    <a:lumMod val="75000"/>
                  </a:schemeClr>
                </a:solidFill>
                <a:latin typeface="Arial Black"/>
                <a:ea typeface="新細明體"/>
                <a:cs typeface="Calibri"/>
              </a:rPr>
              <a:t>END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1968</Words>
  <Application>Microsoft Office PowerPoint</Application>
  <PresentationFormat>自訂</PresentationFormat>
  <Paragraphs>68</Paragraphs>
  <Slides>13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4" baseType="lpstr">
      <vt:lpstr>Organic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user</dc:creator>
  <cp:keywords/>
  <cp:lastModifiedBy>word</cp:lastModifiedBy>
  <cp:revision>204</cp:revision>
  <dcterms:modified xsi:type="dcterms:W3CDTF">2019-11-14T06:51:15Z</dcterms:modified>
</cp:coreProperties>
</file>