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139A57-F512-4DA5-A585-E01433C6B8E7}" v="149" dt="2020-04-30T13:28:17.296"/>
    <p1510:client id="{85B3AA35-8999-4D89-BC58-9D9E7478D431}" v="215" dt="2020-05-06T09:37:38.826"/>
    <p1510:client id="{955CEF00-76CC-48BE-BA48-8C432BD34664}" v="31" dt="2020-04-30T13:03:51.584"/>
    <p1510:client id="{96A9C14E-A822-451B-A8E8-152DA33E5052}" v="19" dt="2020-05-07T09:59:48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5-07T10:02:29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18812 10478 16383 0 0,'0'0'-16383'0'0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5-07T10:02:29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19685 10636 16383 0 0,'0'44'0'0'0,"0"0"0"0"0,0 1 0 0 0,0-1 0 0 0,0 0 0 0 0,0 0 0 0 0,0 0 0 0 0,0 0 0 0 0,0 0 0 0 0,0 0 0 0 0,0 0 0 0 0,0 0 0 0 0,0 1 0 0 0,0-1 0 0 0,0 0 0 0 0,0 0 0 0 0,0 0 0 0 0,0 0 0 0 0,0 0 0 0 0,0-44-16383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5-07T10:02:29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19350 10398 16383 0 0,'44'0'0'0'0,"0"0"0"0"0,0 0 0 0 0,0 0 0 0 0,0 0 0 0 0,-44 44 0 0 0,44 0 0 0 0,1-44 0 0 0,-1 44 0 0 0,0-44 0 0 0,-44 45 0 0 0,44-45 0 0 0,0 0 0 0 0,-44 44 0 0 0,0 0 0 0 0,44-44 0 0 0,-44 44 0 0 0,0 0 0 0 0,0 0 0 0 0,0 0 0 0 0,0 0 0 0 0,0 0 0 0 0,0 0 0 0 0,0 0 0 0 0,-44 1 0 0 0,0-45 0 0 0,44 44 0 0 0,0 0 0 0 0,-44-44 0 0 0,44 44 0 0 0,-44 0 0 0 0,0-44 0 0 0,-1 0 0 0 0,45 44 0 0 0,-44-44 0 0 0,0 0 0 0 0,44 44 0 0 0,-44-44 0 0 0,0 0 0 0 0,0 44 0 0 0,44 0 0 0 0,-44-44 0 0 0,44 44 0 0 0,-44-44 0 0 0,0 0 0 0 0,44 45 0 0 0,0-1 0 0 0,0 0 0 0 0,44-44 0 0 0,0 0 0 0 0,0 0 0 0 0,0 0 0 0 0,0 0 0 0 0,44 44 0 0 0,-44-44 0 0 0,1 0 0 0 0,-1 0 0 0 0,0 0 0 0 0,0 0 0 0 0,0 0 0 0 0,0 0 0 0 0,0 0 0 0 0,0 0 0 0 0,0 0 0 0 0,0 0 0 0 0,-44 0-16383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5-07T10:02:29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19103 10301 16383 0 0,'0'-44'0'0'0,"0"0"0"0"0,44 0 0 0 0,44 44 0 0 0,-44-44 0 0 0,0 44 0 0 0,1-44 0 0 0,-1 44 0 0 0,0 0 0 0 0,0 0 0 0 0,0 0 0 0 0,0 0 0 0 0,0 0 0 0 0,0 0 0 0 0,0 0 0 0 0,0 0 0 0 0,-44 44 0 0 0,0 0 0 0 0,44-44 0 0 0,-44 44 0 0 0,0 0 0 0 0,45-44 0 0 0,-45 0-16383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5-07T10:02:29.2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19218 10169 16383 0 0,'44'0'0'0'0,"0"0"0"0"0,0 0 0 0 0,-44-44 0 0 0,44 0 0 0 0,0 44 0 0 0,0 0 0 0 0,0 0 0 0 0,0 0 0 0 0,0 0 0 0 0,1 0 0 0 0,-1 0 0 0 0,0 0 0 0 0,0 0 0 0 0,0 44 0 0 0,0-44 0 0 0,0 0 0 0 0,0 44 0 0 0,0-44 0 0 0,0 44 0 0 0,45 0 0 0 0,-45 0 0 0 0,0 0 0 0 0,0-44 0 0 0,0 44 0 0 0,-44 0 0 0 0,0 1 0 0 0,0-1 0 0 0,0 0 0 0 0,-44 0 0 0 0,44 0 0 0 0,-44-44 0 0 0,44 44 0 0 0,-88-44 0 0 0,44 44 0 0 0,-1 0 0 0 0,-43-44 0 0 0,44 44 0 0 0,0 0 0 0 0,0-44 0 0 0,0 0 0 0 0,0 0 0 0 0,0 0 0 0 0,0 0 0 0 0,-1 0 0 0 0,1 0 0 0 0,0 0 0 0 0,-44 0 0 0 0,44 0 0 0 0,0 0 0 0 0,0 0 0 0 0,88 0 0 0 0,0 0 0 0 0,0 0 0 0 0,0 0 0 0 0,0 0 0 0 0,0 0 0 0 0,0 0 0 0 0,1 44 0 0 0,-1 1 0 0 0,0-45 0 0 0,-44 44 0 0 0,44-44 0 0 0,-44 44 0 0 0,88 0 0 0 0,-44 0 0 0 0,0 0 0 0 0,44 0 0 0 0,-88 0 0 0 0,45-44 0 0 0,-45 44 0 0 0,44-44 0 0 0,-44 44 0 0 0,-44-44 0 0 0,44 45 0 0 0,-45-1 0 0 0,1 0 0 0 0,0-44 0 0 0,0 0 0 0 0,44 44 0 0 0,-88-44 0 0 0,44 0 0 0 0,0 0 0 0 0,0 0 0 0 0,0 0 0 0 0,-1 0 0 0 0,-43 0 0 0 0,44 0 0 0 0,-44 0 0 0 0,0 0 0 0 0,0 0 0 0 0,-1 0 0 0 0,45 0 0 0 0,0 0 0 0 0,-44 0 0 0 0,44 0 0 0 0,0 0 0 0 0,44-44 0 0 0,0 44-16383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5-07T10:02:29.3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19297 9631 16383 0 0,'0'44'0'0'0,"-44"0"0"0"0,44 0 0 0 0,0 0 0 0 0,-44-44 0 0 0,44 44 0 0 0,-44 0 0 0 0,0-44 0 0 0,44 45 0 0 0,0-1 0 0 0,-45 0 0 0 0,1 0 0 0 0,0 44 0 0 0,0-88 0 0 0,44 44 0 0 0,-44 44 0 0 0,0-44 0 0 0,0 0 0 0 0,0-44 0 0 0,44 45 0 0 0,-44-1 0 0 0,0 0 0 0 0,-1-44 0 0 0,45 44 0 0 0,-44-44 0 0 0,44 44 0 0 0,0 0 0 0 0,0 0 0 0 0,-44-44 0 0 0,44 44 0 0 0,0 0 0 0 0,0 0 0 0 0,88-44 0 0 0,-43 0 0 0 0,-1 0 0 0 0,44 0 0 0 0,0 0 0 0 0,0 45 0 0 0,-44-45 0 0 0,0 0 0 0 0,45 0 0 0 0,-45 0 0 0 0,0 44 0 0 0,0-44 0 0 0,0 0 0 0 0,0 0 0 0 0,0 0 0 0 0,0 0 0 0 0,0 0 0 0 0,1 0 0 0 0,-1 0 0 0 0,0 0 0 0 0,0 0 0 0 0,0 0 0 0 0,0 0 0 0 0,0 0 0 0 0,0 0 0 0 0,0 0 0 0 0,0 0 0 0 0,1 0 0 0 0,-1 0 0 0 0,0 0 0 0 0,-44-44 0 0 0,44 44 0 0 0,-44 0-16383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5-07T10:02:29.3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19218 9790 16383 0 0,'-45'44'0'0'0,"45"0"0"0"0,0 0 0 0 0,0 44 0 0 0,0-44 0 0 0,0 0 0 0 0,0 44 0 0 0,0-43 0 0 0,0-1 0 0 0,-44 44 0 0 0,44 0 0 0 0,-44 0 0 0 0,44-44 0 0 0,0 45 0 0 0,0-1 0 0 0,0-44 0 0 0,0 0 0 0 0,0 0 0 0 0,0 44 0 0 0,-44-88 0 0 0,44 44 0 0 0,0 0 0 0 0,0 1 0 0 0,0-1 0 0 0,0 0 0 0 0,0 0 0 0 0,0 0 0 0 0,0 0 0 0 0,0 0 0 0 0,0 0 0 0 0,0 0 0 0 0,0 0 0 0 0,-44-44 0 0 0,44 44 0 0 0,0 1 0 0 0,0-1 0 0 0,0 0 0 0 0,0-44-16383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5-07T10:02:30.8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19076 10001 16383 0 0,'45'0'0'0'0,"-1"0"0"0"0,0 0 0 0 0,0 0 0 0 0,0 0 0 0 0,0 0 0 0 0,0 0 0 0 0,0 0 0 0 0,0 0 0 0 0,0 0 0 0 0,1 0 0 0 0,-1 0 0 0 0,0 0 0 0 0,0 0 0 0 0,0 0 0 0 0,0 0 0 0 0,0 0 0 0 0,0 0 0 0 0,0 0 0 0 0,-44 0-16383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5-07T10:02:30.9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19156 9975 16383 0 0,'0'44'0'0'0,"0"0"0"0"0,0 0 0 0 0,0 0 0 0 0,0 0 0 0 0,0 0 0 0 0,0 0 0 0 0,0 1 0 0 0,0-1 0 0 0,0 0 0 0 0,0 0 0 0 0,0 0 0 0 0,0 0 0 0 0,0 0 0 0 0,0 0 0 0 0,0 0 0 0 0,0 0 0 0 0,0 1 0 0 0,0-1 0 0 0,44-44 0 0 0,0 0 0 0 0,0 0 0 0 0,0 0 0 0 0,-44-44 0 0 0,44 44 0 0 0,0 0 0 0 0,1 0 0 0 0,-1 0 0 0 0,0 0 0 0 0,0 0 0 0 0,0 0 0 0 0,-44 44 0 0 0,44 0 0 0 0,-44 0 0 0 0,0 0 0 0 0,44-44 0 0 0,-44 44 0 0 0,0 0 0 0 0,0 0 0 0 0,44-44 0 0 0,-44 44 0 0 0,0 0 0 0 0,0 1 0 0 0,0-1 0 0 0,0 0 0 0 0,0 0 0 0 0,0 0 0 0 0,0 0 0 0 0,0 0 0 0 0,-44-44 0 0 0,44 44 0 0 0,0 0 0 0 0,-44-44 0 0 0,44 44 0 0 0,-44-44 0 0 0,0 0 0 0 0,0 0 0 0 0,0 0 0 0 0,44 44 0 0 0,-44-44 0 0 0,-1 0 0 0 0,1 0 0 0 0,0 0 0 0 0,0 0 0 0 0,0 0 0 0 0,0 0 0 0 0,0 0 0 0 0,0 0 0 0 0,0 0 0 0 0,44-44 0 0 0,-44 44 0 0 0,-1 0 0 0 0,45-44 0 0 0,0 0 0 0 0,-44 44 0 0 0,0 0 0 0 0,44-44 0 0 0,0 0 0 0 0,0 0 0 0 0,0 44-16383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5-07T10:02:32.1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19747 10160 16383 0 0,'-44'0'0'0'0,"0"44"0"0"0,44 0 0 0 0,-45-44 0 0 0,45 44 0 0 0,-44 0 0 0 0,0 0 0 0 0,0-44 0 0 0,44 45 0 0 0,-44-1 0 0 0,44 0 0 0 0,0 0 0 0 0,0 0 0 0 0,-44 0 0 0 0,0-44 0 0 0,44 88 0 0 0,-44-88 0 0 0,44 44 0 0 0,-44 0 0 0 0,0 1 0 0 0,44-1 0 0 0,0 0 0 0 0,0 0 0 0 0,-45 44 0 0 0,45-44 0 0 0,0 0 0 0 0,-44-44 0 0 0,44 44 0 0 0,0 0 0 0 0,0 1 0 0 0,0-1 0 0 0,0 0 0 0 0,0 0 0 0 0,0 0 0 0 0,0 0 0 0 0,0 0 0 0 0,44 0 0 0 0,1 0 0 0 0,-1-44 0 0 0,-44 44 0 0 0,44-44 0 0 0,0 0 0 0 0,0 0 0 0 0,0 0 0 0 0,0 0 0 0 0,0 0 0 0 0,0 0 0 0 0,0 0 0 0 0,1 0 0 0 0,-1 0 0 0 0,0 0 0 0 0,0 0 0 0 0,0 0 0 0 0,-44-44 0 0 0,44 44 0 0 0,-44-44 0 0 0,0 0 0 0 0,0 0 0 0 0,0 0 0 0 0,0 0 0 0 0,0 0 0 0 0,-44 44 0 0 0,44-44 0 0 0,-44 44 0 0 0,44-44 0 0 0,-44 44 0 0 0,0 0 0 0 0,44-45 0 0 0,-44 45 0 0 0,44-44 0 0 0,-45 44 0 0 0,1 0 0 0 0,0 0 0 0 0,0 0 0 0 0,0 0 0 0 0,0 0 0 0 0,0 0 0 0 0,0 0 0 0 0,0 0 0 0 0,0 0 0 0 0,44-44 0 0 0,0 44-16383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5-07T10:02:32.3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19041 10239 16383 0 0,'0'44'0'0'0,"0"1"0"0"0,0-1 0 0 0,0 0 0 0 0,-44 0 0 0 0,44 44 0 0 0,0 0 0 0 0,0-44 0 0 0,0 0 0 0 0,-44-44 0 0 0,44 89 0 0 0,-44-45 0 0 0,44 0 0 0 0,0 0 0 0 0,0 0 0 0 0,0 0 0 0 0,0 0 0 0 0,0 0 0 0 0,-44-44 0 0 0,44 0-16383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5-07T10:02:32.4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18971 10160 16383 0 0,'44'0'0'0'0,"0"0"0"0"0,0 0 0 0 0,0 0 0 0 0,0 0 0 0 0,-44 44 0 0 0,44-44 0 0 0,0 0 0 0 0,0 0 0 0 0,1 0 0 0 0,-1 0 0 0 0,-44 44 0 0 0,44-44 0 0 0,0 0 0 0 0,0 0 0 0 0,-44 44 0 0 0,44-44 0 0 0,0 0 0 0 0,-44 44 0 0 0,0 0 0 0 0,0 1 0 0 0,0-1 0 0 0,0 0 0 0 0,0 0 0 0 0,0 0 0 0 0,0 44 0 0 0,0-44 0 0 0,0 44 0 0 0,0 1 0 0 0,0-45 0 0 0,0 0 0 0 0,0 0 0 0 0,0 0 0 0 0,0 0 0 0 0,0 0 0 0 0,0 0 0 0 0,0 0 0 0 0,-44 1 0 0 0,44-1 0 0 0,0 0 0 0 0,-44 0 0 0 0,44 0 0 0 0,0 0 0 0 0,0 0 0 0 0,0 0 0 0 0,0 0 0 0 0,0 0 0 0 0,-44-44 0 0 0,44 45 0 0 0,0-1 0 0 0,0 0 0 0 0,0 0 0 0 0,0 0 0 0 0,-44-44 0 0 0,44 44 0 0 0,0 0 0 0 0,-44-44 0 0 0,44 44 0 0 0,-44 0 0 0 0,44-44-16383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5-07T10:02:32.5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19888 10504 16383 0 0,'-44'0'0'0'0,"-44"0"0"0"0,43 0 0 0 0,-43 0 0 0 0,44 0 0 0 0,0 0 0 0 0,0 0 0 0 0,0 0 0 0 0,44 44 0 0 0,0 0 0 0 0,0 0 0 0 0,0 0 0 0 0,0 0 0 0 0,0 1 0 0 0,44-1 0 0 0,-44 0 0 0 0,44 0 0 0 0,0-44 0 0 0,0 44 0 0 0,0 0 0 0 0,0 0 0 0 0,1 0 0 0 0,-1-44 0 0 0,-44 44 0 0 0,44-44 0 0 0,0 0 0 0 0,-44 44 0 0 0,44-44 0 0 0,-44 45 0 0 0,0-1 0 0 0,0 0 0 0 0,-44-44 0 0 0,44 44 0 0 0,-44-44 0 0 0,0 0 0 0 0,0 0 0 0 0,-1 0 0 0 0,1 0 0 0 0,0 0 0 0 0,0 0 0 0 0,0 0 0 0 0,44-44 0 0 0,0 0 0 0 0,0 0 0 0 0,0-1 0 0 0,0 1 0 0 0,0 0 0 0 0,44 44 0 0 0,-44-44 0 0 0,44 0 0 0 0,0 44 0 0 0,0-44 0 0 0,1 44 0 0 0,-45-44 0 0 0,44 44 0 0 0,0 0 0 0 0,0 0 0 0 0,-44-44 0 0 0,44 0 0 0 0,-44 0 0 0 0,44 44 0 0 0,-44-45 0 0 0,0 1 0 0 0,0 0 0 0 0,0 0 0 0 0,0 0 0 0 0,0 0 0 0 0,-44 44 0 0 0,0 0 0 0 0,0 0 0 0 0,44 0-16383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2020/5/7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448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2020/5/7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2236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2020/5/7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4042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2020/5/7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65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2020/5/7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404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2020/5/7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465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2020/5/7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096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2020/5/7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526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2020/5/7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2263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2020/5/7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045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EF9D-446A-4BA9-9A8F-8795C824CFA3}" type="datetimeFigureOut">
              <a:rPr lang="zh-TW" altLang="en-US" smtClean="0"/>
              <a:t>2020/5/7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5651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5EF9D-446A-4BA9-9A8F-8795C824CFA3}" type="datetimeFigureOut">
              <a:rPr lang="zh-TW" altLang="en-US" smtClean="0"/>
              <a:t>2020/5/7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A2E34-17E6-46B6-A0CD-23734D57E7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1134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9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customXml" Target="../ink/ink1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4" descr="一張含有 蛋糕, 室內, 裝飾, 生日 的圖片&#10;&#10;描述是以非常高的可信度產生">
            <a:extLst>
              <a:ext uri="{FF2B5EF4-FFF2-40B4-BE49-F238E27FC236}">
                <a16:creationId xmlns:a16="http://schemas.microsoft.com/office/drawing/2014/main" id="{4603974D-62DB-4856-A505-8211C291A7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022021" y="3231931"/>
            <a:ext cx="3852041" cy="1834056"/>
          </a:xfrm>
        </p:spPr>
        <p:txBody>
          <a:bodyPr>
            <a:normAutofit/>
          </a:bodyPr>
          <a:lstStyle/>
          <a:p>
            <a:r>
              <a:rPr lang="zh-TW" altLang="en-US" sz="4000">
                <a:ea typeface="+mj-lt"/>
                <a:cs typeface="+mj-lt"/>
              </a:rPr>
              <a:t>新冠</a:t>
            </a:r>
            <a:r>
              <a:rPr lang="zh-TW" sz="4000">
                <a:ea typeface="+mj-lt"/>
                <a:cs typeface="+mj-lt"/>
              </a:rPr>
              <a:t>肺炎</a:t>
            </a:r>
            <a:endParaRPr lang="zh-TW" sz="400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782910" y="5242675"/>
            <a:ext cx="4330262" cy="6832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zh-TW" sz="2000">
                <a:ea typeface="+mn-lt"/>
                <a:cs typeface="+mn-lt"/>
              </a:rPr>
              <a:t>COVID-19</a:t>
            </a:r>
            <a:endParaRPr lang="zh-TW" sz="2000"/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129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50A8880-A024-4121-9D4E-DB0B87500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r>
              <a:rPr lang="zh-TW" b="1">
                <a:solidFill>
                  <a:schemeClr val="bg1"/>
                </a:solidFill>
                <a:ea typeface="新細明體"/>
              </a:rPr>
              <a:t>什麼是 2019 新型冠狀病毒呢？！</a:t>
            </a:r>
            <a:endParaRPr lang="zh-TW" b="1">
              <a:solidFill>
                <a:schemeClr val="bg1"/>
              </a:solidFill>
              <a:ea typeface="新細明體"/>
              <a:cs typeface="Calibri Light"/>
            </a:endParaRPr>
          </a:p>
        </p:txBody>
      </p:sp>
      <p:pic>
        <p:nvPicPr>
          <p:cNvPr id="26" name="圖片 26">
            <a:extLst>
              <a:ext uri="{FF2B5EF4-FFF2-40B4-BE49-F238E27FC236}">
                <a16:creationId xmlns:a16="http://schemas.microsoft.com/office/drawing/2014/main" id="{9FB981D2-C16B-47FD-8869-9C4DAB5EA7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810"/>
          <a:stretch/>
        </p:blipFill>
        <p:spPr>
          <a:xfrm>
            <a:off x="841248" y="2516777"/>
            <a:ext cx="6236208" cy="3660185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F747C7-1128-47D0-8C4D-3A03817FC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516777"/>
            <a:ext cx="3803904" cy="36601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TW" sz="3000">
                <a:ea typeface="+mn-lt"/>
                <a:cs typeface="+mn-lt"/>
              </a:rPr>
              <a:t>於2019年12月中國湖北省武漢市出現多起病毒性肺炎群聚。隨後世界衛生組織將造成武漢肺炎疫情的病毒正式命名為「2019新型冠狀病毒」（2019-nCoV）。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CA8B575F-9C98-45D0-9E4E-132A80A65334}"/>
                  </a:ext>
                </a:extLst>
              </p14:cNvPr>
              <p14:cNvContentPartPr/>
              <p14:nvPr/>
            </p14:nvContentPartPr>
            <p14:xfrm>
              <a:off x="11160125" y="6127750"/>
              <a:ext cx="19050" cy="1905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CA8B575F-9C98-45D0-9E4E-132A80A653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26675" y="5194300"/>
                <a:ext cx="1905000" cy="19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DEAAA9B8-F009-4A8D-BFFC-85AFB19829B7}"/>
                  </a:ext>
                </a:extLst>
              </p14:cNvPr>
              <p14:cNvContentPartPr/>
              <p14:nvPr/>
            </p14:nvContentPartPr>
            <p14:xfrm>
              <a:off x="11684000" y="6223000"/>
              <a:ext cx="19050" cy="30480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DEAAA9B8-F009-4A8D-BFFC-85AFB19829B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731500" y="6204836"/>
                <a:ext cx="1905000" cy="34076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2223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7">
            <a:extLst>
              <a:ext uri="{FF2B5EF4-FFF2-40B4-BE49-F238E27FC236}">
                <a16:creationId xmlns:a16="http://schemas.microsoft.com/office/drawing/2014/main" id="{828D1E49-2A21-4A83-A0E0-FB1597B4B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9">
            <a:extLst>
              <a:ext uri="{FF2B5EF4-FFF2-40B4-BE49-F238E27FC236}">
                <a16:creationId xmlns:a16="http://schemas.microsoft.com/office/drawing/2014/main" id="{088B852E-5494-418B-A833-75CF016A9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1" name="Freeform 5">
              <a:extLst>
                <a:ext uri="{FF2B5EF4-FFF2-40B4-BE49-F238E27FC236}">
                  <a16:creationId xmlns:a16="http://schemas.microsoft.com/office/drawing/2014/main" id="{DF31E3C1-1A46-4329-9F80-B576692FEE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294B4592-99CA-47B1-816F-CE2D44F65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7">
              <a:extLst>
                <a:ext uri="{FF2B5EF4-FFF2-40B4-BE49-F238E27FC236}">
                  <a16:creationId xmlns:a16="http://schemas.microsoft.com/office/drawing/2014/main" id="{BF690E4C-72F8-4AC5-AF99-562763CC67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8">
              <a:extLst>
                <a:ext uri="{FF2B5EF4-FFF2-40B4-BE49-F238E27FC236}">
                  <a16:creationId xmlns:a16="http://schemas.microsoft.com/office/drawing/2014/main" id="{F834CDD4-CAB8-4ACC-9AAC-5399C743DE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9">
              <a:extLst>
                <a:ext uri="{FF2B5EF4-FFF2-40B4-BE49-F238E27FC236}">
                  <a16:creationId xmlns:a16="http://schemas.microsoft.com/office/drawing/2014/main" id="{1AEB045A-6821-475B-A28E-047437ABE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10">
              <a:extLst>
                <a:ext uri="{FF2B5EF4-FFF2-40B4-BE49-F238E27FC236}">
                  <a16:creationId xmlns:a16="http://schemas.microsoft.com/office/drawing/2014/main" id="{D9B790C0-3D34-4626-BAFB-6EB473F40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11">
              <a:extLst>
                <a:ext uri="{FF2B5EF4-FFF2-40B4-BE49-F238E27FC236}">
                  <a16:creationId xmlns:a16="http://schemas.microsoft.com/office/drawing/2014/main" id="{EDA4D87F-91A4-4628-9A6E-F01820A7E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12">
              <a:extLst>
                <a:ext uri="{FF2B5EF4-FFF2-40B4-BE49-F238E27FC236}">
                  <a16:creationId xmlns:a16="http://schemas.microsoft.com/office/drawing/2014/main" id="{045DAB88-124C-459C-A889-DAE9C9BE2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85D44010-1DAA-4CAC-B83F-7E3E8C455D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E8C01D66-5C93-4A2E-AA74-DE97574EA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5">
              <a:extLst>
                <a:ext uri="{FF2B5EF4-FFF2-40B4-BE49-F238E27FC236}">
                  <a16:creationId xmlns:a16="http://schemas.microsoft.com/office/drawing/2014/main" id="{E2E1A6E1-6C4A-47D3-81E2-9F8624F1BB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3E849CB5-4526-49DC-B77B-A20FDB7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7">
              <a:extLst>
                <a:ext uri="{FF2B5EF4-FFF2-40B4-BE49-F238E27FC236}">
                  <a16:creationId xmlns:a16="http://schemas.microsoft.com/office/drawing/2014/main" id="{5A18C8A4-FB2A-44C1-93D3-26C6DDFE0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8">
              <a:extLst>
                <a:ext uri="{FF2B5EF4-FFF2-40B4-BE49-F238E27FC236}">
                  <a16:creationId xmlns:a16="http://schemas.microsoft.com/office/drawing/2014/main" id="{85D014FD-8C5A-4071-B19E-4910AAB618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9">
              <a:extLst>
                <a:ext uri="{FF2B5EF4-FFF2-40B4-BE49-F238E27FC236}">
                  <a16:creationId xmlns:a16="http://schemas.microsoft.com/office/drawing/2014/main" id="{A37D7262-3596-4026-9AD4-E94332E526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0">
              <a:extLst>
                <a:ext uri="{FF2B5EF4-FFF2-40B4-BE49-F238E27FC236}">
                  <a16:creationId xmlns:a16="http://schemas.microsoft.com/office/drawing/2014/main" id="{187E37E0-AAC3-4B33-AF36-334ACCBD33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1">
              <a:extLst>
                <a:ext uri="{FF2B5EF4-FFF2-40B4-BE49-F238E27FC236}">
                  <a16:creationId xmlns:a16="http://schemas.microsoft.com/office/drawing/2014/main" id="{409758BB-8A0E-4BEB-BC0C-F410AD98C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">
              <a:extLst>
                <a:ext uri="{FF2B5EF4-FFF2-40B4-BE49-F238E27FC236}">
                  <a16:creationId xmlns:a16="http://schemas.microsoft.com/office/drawing/2014/main" id="{97C4EFE2-9D25-4978-BD9A-873B492702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3">
              <a:extLst>
                <a:ext uri="{FF2B5EF4-FFF2-40B4-BE49-F238E27FC236}">
                  <a16:creationId xmlns:a16="http://schemas.microsoft.com/office/drawing/2014/main" id="{9CCAF82A-A0E0-4B55-A97B-EFFAE79AF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">
              <a:extLst>
                <a:ext uri="{FF2B5EF4-FFF2-40B4-BE49-F238E27FC236}">
                  <a16:creationId xmlns:a16="http://schemas.microsoft.com/office/drawing/2014/main" id="{4F800DD8-3954-4F73-8807-16F1CFAC1E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5">
              <a:extLst>
                <a:ext uri="{FF2B5EF4-FFF2-40B4-BE49-F238E27FC236}">
                  <a16:creationId xmlns:a16="http://schemas.microsoft.com/office/drawing/2014/main" id="{84E1C91A-4B06-4852-918C-6380FA98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4EAA97EC-9945-42D9-9637-C0601727F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7" y="795527"/>
            <a:ext cx="10488547" cy="1190912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altLang="zh-TW" sz="6000" b="1" dirty="0">
                <a:solidFill>
                  <a:schemeClr val="accent2">
                    <a:lumMod val="75000"/>
                  </a:schemeClr>
                </a:solidFill>
                <a:ea typeface="新細明體"/>
              </a:rPr>
              <a:t>2019 </a:t>
            </a:r>
            <a:r>
              <a:rPr lang="zh-TW" altLang="en-US" sz="6000" b="1">
                <a:solidFill>
                  <a:schemeClr val="accent2">
                    <a:lumMod val="75000"/>
                  </a:schemeClr>
                </a:solidFill>
                <a:ea typeface="新細明體"/>
              </a:rPr>
              <a:t>新型冠狀病毒的傳染途徑？</a:t>
            </a:r>
            <a:endParaRPr lang="en-US" altLang="zh-TW" sz="6000">
              <a:solidFill>
                <a:schemeClr val="accent2">
                  <a:lumMod val="75000"/>
                </a:schemeClr>
              </a:solidFill>
              <a:ea typeface="新細明體"/>
            </a:endParaRPr>
          </a:p>
          <a:p>
            <a:pPr algn="ctr"/>
            <a:endParaRPr lang="en-US" altLang="zh-TW" sz="400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972DE0D-2E53-4159-ABD3-C60152426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030" y="2250281"/>
            <a:ext cx="4959318" cy="3678237"/>
          </a:xfrm>
          <a:prstGeom prst="rect">
            <a:avLst/>
          </a:prstGeom>
          <a:solidFill>
            <a:schemeClr val="bg1"/>
          </a:solidFill>
          <a:ln w="19050">
            <a:solidFill>
              <a:srgbClr val="7ADBE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圖片 4" descr="一張含有 彩色, 桌, 食物, 手機 的圖片&#10;&#10;描述是以非常高的可信度產生">
            <a:extLst>
              <a:ext uri="{FF2B5EF4-FFF2-40B4-BE49-F238E27FC236}">
                <a16:creationId xmlns:a16="http://schemas.microsoft.com/office/drawing/2014/main" id="{57AE2951-1ADD-4668-83A0-59B649EAE7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599" r="13708"/>
          <a:stretch/>
        </p:blipFill>
        <p:spPr>
          <a:xfrm>
            <a:off x="1103257" y="2416047"/>
            <a:ext cx="4626864" cy="3346704"/>
          </a:xfrm>
          <a:prstGeom prst="rect">
            <a:avLst/>
          </a:prstGeom>
          <a:ln w="12700">
            <a:noFill/>
          </a:ln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F5AAF2-CD26-42A7-A3A2-AEC245CDF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0703" y="2228850"/>
            <a:ext cx="5028928" cy="3699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Clr>
                <a:srgbClr val="7ADBEF"/>
              </a:buClr>
              <a:buNone/>
            </a:pPr>
            <a:r>
              <a:rPr lang="zh-TW" altLang="en-US" sz="4000">
                <a:ea typeface="新細明體"/>
              </a:rPr>
              <a:t>直接或間接接觸</a:t>
            </a:r>
            <a:r>
              <a:rPr lang="zh-TW" altLang="en-US" sz="4000" b="1">
                <a:ea typeface="新細明體"/>
              </a:rPr>
              <a:t>病人的口鼻分泌物或體液</a:t>
            </a:r>
            <a:r>
              <a:rPr lang="zh-TW" altLang="en-US" sz="4000">
                <a:ea typeface="新細明體"/>
              </a:rPr>
              <a:t>、</a:t>
            </a:r>
            <a:r>
              <a:rPr lang="zh-TW" altLang="en-US" sz="4000" b="1">
                <a:ea typeface="新細明體"/>
              </a:rPr>
              <a:t>飛沫傳染</a:t>
            </a:r>
            <a:r>
              <a:rPr lang="zh-TW" altLang="en-US" sz="4000">
                <a:ea typeface="新細明體"/>
              </a:rPr>
              <a:t>。</a:t>
            </a:r>
            <a:endParaRPr lang="en-US" altLang="zh-TW" sz="4000">
              <a:ea typeface="新細明體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F0BC6A85-71DA-481A-9E86-297DAA2D0934}"/>
                  </a:ext>
                </a:extLst>
              </p14:cNvPr>
              <p14:cNvContentPartPr/>
              <p14:nvPr/>
            </p14:nvContentPartPr>
            <p14:xfrm>
              <a:off x="11430000" y="6080124"/>
              <a:ext cx="285750" cy="447675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F0BC6A85-71DA-481A-9E86-297DAA2D09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12388" y="6062014"/>
                <a:ext cx="321334" cy="48353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0752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4" descr="一張含有 蛋糕, 室內, 裝飾, 生日 的圖片&#10;&#10;描述是以非常高的可信度產生">
            <a:extLst>
              <a:ext uri="{FF2B5EF4-FFF2-40B4-BE49-F238E27FC236}">
                <a16:creationId xmlns:a16="http://schemas.microsoft.com/office/drawing/2014/main" id="{38F9944E-177D-4A1F-BB44-A0127E42E9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0"/>
            <a:ext cx="12192000" cy="6857990"/>
          </a:xfrm>
          <a:prstGeom prst="rect">
            <a:avLst/>
          </a:prstGeom>
        </p:spPr>
      </p:pic>
      <p:sp>
        <p:nvSpPr>
          <p:cNvPr id="20" name="Freeform 5">
            <a:extLst>
              <a:ext uri="{FF2B5EF4-FFF2-40B4-BE49-F238E27FC236}">
                <a16:creationId xmlns:a16="http://schemas.microsoft.com/office/drawing/2014/main" id="{3CD9DF72-87A3-404E-A828-84CBF11A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 flipH="1">
            <a:off x="0" y="998175"/>
            <a:ext cx="6017172" cy="5859825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5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228CCF-D25B-4CAA-BB8C-6852BF2B8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48" y="1913950"/>
            <a:ext cx="4204137" cy="1342754"/>
          </a:xfrm>
        </p:spPr>
        <p:txBody>
          <a:bodyPr>
            <a:normAutofit/>
          </a:bodyPr>
          <a:lstStyle/>
          <a:p>
            <a:pPr algn="ctr"/>
            <a:r>
              <a:rPr lang="zh-TW" sz="5000">
                <a:ea typeface="+mj-lt"/>
                <a:cs typeface="+mj-lt"/>
              </a:rPr>
              <a:t>潛伏期</a:t>
            </a:r>
            <a:endParaRPr lang="zh-TW" sz="5000"/>
          </a:p>
        </p:txBody>
      </p:sp>
      <p:cxnSp>
        <p:nvCxnSpPr>
          <p:cNvPr id="22" name="Straight Connector 10">
            <a:extLst>
              <a:ext uri="{FF2B5EF4-FFF2-40B4-BE49-F238E27FC236}">
                <a16:creationId xmlns:a16="http://schemas.microsoft.com/office/drawing/2014/main" id="{20E3A342-4D61-4E3F-AF90-1AB42AEB9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87051" y="3337139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002796-610A-4CE5-BFD8-060CAB8E2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16" y="3417573"/>
            <a:ext cx="4593021" cy="26198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sz="3000">
                <a:ea typeface="+mn-lt"/>
                <a:cs typeface="+mn-lt"/>
              </a:rPr>
              <a:t>2-12 天(平均 7 天) 最⻑為 14 天</a:t>
            </a:r>
            <a:endParaRPr lang="zh-TW" altLang="en-US" sz="30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C7F3F610-8481-4CEF-8105-A678F1C76720}"/>
                  </a:ext>
                </a:extLst>
              </p14:cNvPr>
              <p14:cNvContentPartPr/>
              <p14:nvPr/>
            </p14:nvContentPartPr>
            <p14:xfrm>
              <a:off x="11334750" y="5889625"/>
              <a:ext cx="266700" cy="7620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C7F3F610-8481-4CEF-8105-A678F1C767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17349" y="5872730"/>
                <a:ext cx="301858" cy="1103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1097F381-DBA4-4787-B527-81AE079A4472}"/>
                  </a:ext>
                </a:extLst>
              </p14:cNvPr>
              <p14:cNvContentPartPr/>
              <p14:nvPr/>
            </p14:nvContentPartPr>
            <p14:xfrm>
              <a:off x="11191874" y="5889624"/>
              <a:ext cx="523875" cy="523875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1097F381-DBA4-4787-B527-81AE079A447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74244" y="5871994"/>
                <a:ext cx="559496" cy="55949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901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圖片 43" descr="一張含有 蛋糕, 室內, 裝飾, 生日 的圖片&#10;&#10;描述是以非常高的可信度產生">
            <a:extLst>
              <a:ext uri="{FF2B5EF4-FFF2-40B4-BE49-F238E27FC236}">
                <a16:creationId xmlns:a16="http://schemas.microsoft.com/office/drawing/2014/main" id="{A848CD46-7E08-45CA-98F0-D418A5D6FF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0"/>
            <a:ext cx="12192000" cy="6857990"/>
          </a:xfrm>
          <a:prstGeom prst="rect">
            <a:avLst/>
          </a:prstGeom>
        </p:spPr>
      </p:pic>
      <p:sp>
        <p:nvSpPr>
          <p:cNvPr id="48" name="Freeform 5">
            <a:extLst>
              <a:ext uri="{FF2B5EF4-FFF2-40B4-BE49-F238E27FC236}">
                <a16:creationId xmlns:a16="http://schemas.microsoft.com/office/drawing/2014/main" id="{3CD9DF72-87A3-404E-A828-84CBF11A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 flipH="1">
            <a:off x="0" y="998175"/>
            <a:ext cx="6017172" cy="5859825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5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79A9C74-D220-4CF6-9D34-44BAFDE2A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48" y="1913950"/>
            <a:ext cx="4204137" cy="1342754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zh-TW" altLang="en-US" sz="5000">
                <a:ea typeface="新細明體"/>
              </a:rPr>
              <a:t>致病源 </a:t>
            </a:r>
            <a:endParaRPr lang="en-US" altLang="zh-TW" sz="500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0E3A342-4D61-4E3F-AF90-1AB42AEB9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87051" y="3337139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24A024-8866-49AA-991F-E364A9112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16" y="3417573"/>
            <a:ext cx="4593021" cy="26198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zh-TW" altLang="en-US" sz="3000">
                <a:ea typeface="新細明體"/>
              </a:rPr>
              <a:t>新型冠狀病毒</a:t>
            </a:r>
            <a:r>
              <a:rPr lang="en-US" altLang="zh-TW" sz="3000" dirty="0">
                <a:ea typeface="新細明體"/>
              </a:rPr>
              <a:t>(2019-nCOV)</a:t>
            </a:r>
            <a:r>
              <a:rPr lang="zh-TW" altLang="en-US" sz="3000">
                <a:ea typeface="新細明體"/>
              </a:rPr>
              <a:t>，為 具有外套膜之 </a:t>
            </a:r>
            <a:r>
              <a:rPr lang="en-US" altLang="zh-TW" sz="3000" dirty="0">
                <a:ea typeface="新細明體"/>
              </a:rPr>
              <a:t>RNA </a:t>
            </a:r>
            <a:r>
              <a:rPr lang="zh-TW" altLang="en-US" sz="3000">
                <a:ea typeface="新細明體"/>
              </a:rPr>
              <a:t>病毒，外表為 圓形，電子顯微鏡下可見類似皇 冠的突起因而得名</a:t>
            </a:r>
            <a:endParaRPr lang="en-US" altLang="zh-TW" sz="3000">
              <a:ea typeface="新細明體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7A136652-1FA1-4E1F-9B6F-492CF1D346A6}"/>
                  </a:ext>
                </a:extLst>
              </p14:cNvPr>
              <p14:cNvContentPartPr/>
              <p14:nvPr/>
            </p14:nvContentPartPr>
            <p14:xfrm>
              <a:off x="11001375" y="5619750"/>
              <a:ext cx="571500" cy="457200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7A136652-1FA1-4E1F-9B6F-492CF1D346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83392" y="5602248"/>
                <a:ext cx="606747" cy="4925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512B8703-E50C-4FF1-A8AE-8EB15432C57E}"/>
                  </a:ext>
                </a:extLst>
              </p14:cNvPr>
              <p14:cNvContentPartPr/>
              <p14:nvPr/>
            </p14:nvContentPartPr>
            <p14:xfrm>
              <a:off x="11271250" y="5715000"/>
              <a:ext cx="76200" cy="68580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512B8703-E50C-4FF1-A8AE-8EB15432C57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254010" y="5697286"/>
                <a:ext cx="110335" cy="72159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3655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4" descr="一張含有 蛋糕, 室內, 裝飾, 生日 的圖片&#10;&#10;描述是以非常高的可信度產生">
            <a:extLst>
              <a:ext uri="{FF2B5EF4-FFF2-40B4-BE49-F238E27FC236}">
                <a16:creationId xmlns:a16="http://schemas.microsoft.com/office/drawing/2014/main" id="{ED93867C-CF5F-4E7A-9E44-2E0ED86BF0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0"/>
            <a:ext cx="12192000" cy="6857990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3CD9DF72-87A3-404E-A828-84CBF11A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 flipH="1">
            <a:off x="0" y="998175"/>
            <a:ext cx="6017172" cy="5859825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5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A120789-1D02-423C-9FD2-33B17B0CD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48" y="1913950"/>
            <a:ext cx="4204137" cy="1342754"/>
          </a:xfrm>
        </p:spPr>
        <p:txBody>
          <a:bodyPr>
            <a:normAutofit/>
          </a:bodyPr>
          <a:lstStyle/>
          <a:p>
            <a:pPr algn="ctr"/>
            <a:r>
              <a:rPr lang="zh-TW" sz="3600">
                <a:ea typeface="+mj-lt"/>
                <a:cs typeface="+mj-lt"/>
              </a:rPr>
              <a:t>診斷方式 </a:t>
            </a:r>
            <a:endParaRPr lang="zh-TW" sz="3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0E3A342-4D61-4E3F-AF90-1AB42AEB9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87051" y="3337139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56195D-F7EF-42E5-97E8-777F6E851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16" y="3417573"/>
            <a:ext cx="4593021" cy="26198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sz="3000">
                <a:ea typeface="+mn-lt"/>
                <a:cs typeface="+mn-lt"/>
              </a:rPr>
              <a:t>反轉錄即時聚合酶連鎖 反應(RT-PCR)</a:t>
            </a:r>
            <a:r>
              <a:rPr lang="zh-TW" sz="1800">
                <a:ea typeface="+mn-lt"/>
                <a:cs typeface="+mn-lt"/>
              </a:rPr>
              <a:t>。</a:t>
            </a:r>
            <a:endParaRPr lang="zh-TW" altLang="en-US" sz="18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5CB56F37-3CB3-4114-99D8-0E377993290E}"/>
                  </a:ext>
                </a:extLst>
              </p14:cNvPr>
              <p14:cNvContentPartPr/>
              <p14:nvPr/>
            </p14:nvContentPartPr>
            <p14:xfrm>
              <a:off x="11318875" y="5842000"/>
              <a:ext cx="304800" cy="1905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5CB56F37-3CB3-4114-99D8-0E37799329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00711" y="4889500"/>
                <a:ext cx="340766" cy="19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225B2CB3-C2D3-408C-957F-4B1B7E49D460}"/>
                  </a:ext>
                </a:extLst>
              </p14:cNvPr>
              <p14:cNvContentPartPr/>
              <p14:nvPr/>
            </p14:nvContentPartPr>
            <p14:xfrm>
              <a:off x="11207749" y="5826124"/>
              <a:ext cx="314325" cy="600075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225B2CB3-C2D3-408C-957F-4B1B7E49D46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89950" y="5808591"/>
                <a:ext cx="349566" cy="635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8485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449480-6102-403F-A045-8862C2D5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>
            <a:normAutofit/>
          </a:bodyPr>
          <a:lstStyle/>
          <a:p>
            <a:pPr algn="ctr"/>
            <a:r>
              <a:rPr lang="zh-TW" sz="5000">
                <a:ea typeface="+mj-lt"/>
                <a:cs typeface="+mj-lt"/>
              </a:rPr>
              <a:t>臨床症狀</a:t>
            </a:r>
            <a:endParaRPr lang="zh-TW" sz="5000">
              <a:cs typeface="Calibri Light" panose="020F0302020204030204"/>
            </a:endParaRPr>
          </a:p>
        </p:txBody>
      </p:sp>
      <p:cxnSp>
        <p:nvCxnSpPr>
          <p:cNvPr id="6" name="Straight Arrow Connector 8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9B1282-4D80-48BF-B9D6-0C3F79082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sz="3000">
                <a:ea typeface="+mn-lt"/>
                <a:cs typeface="+mn-lt"/>
              </a:rPr>
              <a:t>目前已知個案症狀之臨床表現為 發燒、四肢無力，呼吸道症狀以 乾咳為主，有些人可能出現呼吸 困難。嚴重時可能進展至嚴重肺 炎、呼吸道窘迫症候群或多重器 官衰竭、休克等</a:t>
            </a:r>
            <a:r>
              <a:rPr lang="zh-TW" sz="1800">
                <a:ea typeface="+mn-lt"/>
                <a:cs typeface="+mn-lt"/>
              </a:rPr>
              <a:t>。</a:t>
            </a:r>
            <a:r>
              <a:rPr lang="zh-TW" altLang="en-US" sz="1800">
                <a:ea typeface="+mn-lt"/>
                <a:cs typeface="+mn-lt"/>
              </a:rPr>
              <a:t> </a:t>
            </a:r>
            <a:endParaRPr lang="zh-TW" altLang="en-US" sz="1800">
              <a:ea typeface="新細明體"/>
              <a:cs typeface="Calibri"/>
            </a:endParaRPr>
          </a:p>
        </p:txBody>
      </p:sp>
      <p:pic>
        <p:nvPicPr>
          <p:cNvPr id="4" name="圖片 4" descr="一張含有 蛋糕, 室內, 裝飾, 生日 的圖片&#10;&#10;描述是以非常高的可信度產生">
            <a:extLst>
              <a:ext uri="{FF2B5EF4-FFF2-40B4-BE49-F238E27FC236}">
                <a16:creationId xmlns:a16="http://schemas.microsoft.com/office/drawing/2014/main" id="{257BCBFC-6E4E-4C56-B2EB-90E6DD11EC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976" r="21242"/>
          <a:stretch/>
        </p:blipFill>
        <p:spPr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DA9052A8-56B1-4344-A26F-3DD3A2F5AD79}"/>
                  </a:ext>
                </a:extLst>
              </p14:cNvPr>
              <p14:cNvContentPartPr/>
              <p14:nvPr/>
            </p14:nvContentPartPr>
            <p14:xfrm>
              <a:off x="11350625" y="5937250"/>
              <a:ext cx="266700" cy="55245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DA9052A8-56B1-4344-A26F-3DD3A2F5AD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32869" y="5919360"/>
                <a:ext cx="301858" cy="58787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8365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F9895B-B22C-4226-A671-2C71754A8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>
            <a:normAutofit/>
          </a:bodyPr>
          <a:lstStyle/>
          <a:p>
            <a:r>
              <a:rPr lang="zh-TW" sz="5000">
                <a:ea typeface="+mj-lt"/>
                <a:cs typeface="+mj-lt"/>
              </a:rPr>
              <a:t>預防方式</a:t>
            </a:r>
            <a:r>
              <a:rPr lang="zh-TW" altLang="en-US" sz="5000">
                <a:ea typeface="+mj-lt"/>
                <a:cs typeface="+mj-lt"/>
              </a:rPr>
              <a:t> </a:t>
            </a:r>
            <a:endParaRPr lang="zh-TW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ED3EE9-BA4E-45E0-8460-4C3CE2A70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TW" altLang="en-US" sz="3000">
                <a:ea typeface="+mn-lt"/>
                <a:cs typeface="+mn-lt"/>
              </a:rPr>
              <a:t>目前未有疫苗可用來預防冠狀病 毒感染。預防措施與其他呼吸道 感染相同，包括勤洗手、妥善處 理口鼻分泌物等，並且儘量避免 出入人潮擁擠、空氣不流通的公 共場所。</a:t>
            </a:r>
            <a:endParaRPr lang="zh-TW" altLang="en-US" sz="3000">
              <a:ea typeface="新細明體"/>
              <a:cs typeface="+mn-lt"/>
            </a:endParaRPr>
          </a:p>
        </p:txBody>
      </p:sp>
      <p:pic>
        <p:nvPicPr>
          <p:cNvPr id="6" name="圖片 6" descr="一張含有 蛋糕, 室內, 裝飾, 生日 的圖片&#10;&#10;描述是以非常高的可信度產生">
            <a:extLst>
              <a:ext uri="{FF2B5EF4-FFF2-40B4-BE49-F238E27FC236}">
                <a16:creationId xmlns:a16="http://schemas.microsoft.com/office/drawing/2014/main" id="{56974959-A5F7-44BC-9098-9D3A9EE7AA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976" r="21242"/>
          <a:stretch/>
        </p:blipFill>
        <p:spPr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4EDDB719-9484-4964-B6B0-A17E9E3B23C5}"/>
                  </a:ext>
                </a:extLst>
              </p14:cNvPr>
              <p14:cNvContentPartPr/>
              <p14:nvPr/>
            </p14:nvContentPartPr>
            <p14:xfrm>
              <a:off x="11191874" y="5984874"/>
              <a:ext cx="66675" cy="314325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4EDDB719-9484-4964-B6B0-A17E9E3B23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73416" y="5967075"/>
                <a:ext cx="103968" cy="3495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DE67778E-B606-486D-BC65-9F803E6AB20A}"/>
                  </a:ext>
                </a:extLst>
              </p14:cNvPr>
              <p14:cNvContentPartPr/>
              <p14:nvPr/>
            </p14:nvContentPartPr>
            <p14:xfrm>
              <a:off x="11255375" y="5937249"/>
              <a:ext cx="238124" cy="695325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DE67778E-B606-486D-BC65-9F803E6AB20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237750" y="5919337"/>
                <a:ext cx="273735" cy="73079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0068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EEC129-F163-486C-B21E-96BCE0DFA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370" y="552031"/>
            <a:ext cx="9120997" cy="261639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zh-TW" sz="3500">
                <a:ea typeface="新細明體"/>
              </a:rPr>
              <a:t>一次看懂新型、SARS、MERS的差別</a:t>
            </a:r>
          </a:p>
          <a:p>
            <a:endParaRPr lang="zh-TW" altLang="en-US" dirty="0">
              <a:ea typeface="新細明體"/>
              <a:cs typeface="Calibri Light"/>
            </a:endParaRPr>
          </a:p>
        </p:txBody>
      </p:sp>
      <p:pic>
        <p:nvPicPr>
          <p:cNvPr id="8" name="圖片 8" descr="一張含有 螢幕擷取畫面 的圖片&#10;&#10;描述是以非常高的可信度產生">
            <a:extLst>
              <a:ext uri="{FF2B5EF4-FFF2-40B4-BE49-F238E27FC236}">
                <a16:creationId xmlns:a16="http://schemas.microsoft.com/office/drawing/2014/main" id="{8B8BE6EE-7F9F-4104-A16C-4166075D5F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46" y="546040"/>
            <a:ext cx="12106426" cy="6378544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419A8D0C-6A49-4CEE-9757-1A82FD4F3C86}"/>
                  </a:ext>
                </a:extLst>
              </p14:cNvPr>
              <p14:cNvContentPartPr/>
              <p14:nvPr/>
            </p14:nvContentPartPr>
            <p14:xfrm>
              <a:off x="11541125" y="6143625"/>
              <a:ext cx="190500" cy="304800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419A8D0C-6A49-4CEE-9757-1A82FD4F3C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23513" y="6125824"/>
                <a:ext cx="226084" cy="34076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0038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2A5F716-98EF-42EF-A471-87C6DFDCC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87687D8-4EF1-4EF2-BF7E-74BB4A3D1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31529">
            <a:off x="2173916" y="2300932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pic>
        <p:nvPicPr>
          <p:cNvPr id="4" name="圖片 4">
            <a:extLst>
              <a:ext uri="{FF2B5EF4-FFF2-40B4-BE49-F238E27FC236}">
                <a16:creationId xmlns:a16="http://schemas.microsoft.com/office/drawing/2014/main" id="{3054A2B6-008D-4B41-B45B-6BB27898DF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" b="1506"/>
          <a:stretch/>
        </p:blipFill>
        <p:spPr>
          <a:xfrm>
            <a:off x="2354578" y="544297"/>
            <a:ext cx="7761924" cy="5343065"/>
          </a:xfrm>
          <a:custGeom>
            <a:avLst/>
            <a:gdLst/>
            <a:ahLst/>
            <a:cxnLst/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02236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10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Office 佈景主題</vt:lpstr>
      <vt:lpstr>新冠肺炎</vt:lpstr>
      <vt:lpstr>什麼是 2019 新型冠狀病毒呢？！</vt:lpstr>
      <vt:lpstr>2019 新型冠狀病毒的傳染途徑？ </vt:lpstr>
      <vt:lpstr>潛伏期</vt:lpstr>
      <vt:lpstr>致病源 </vt:lpstr>
      <vt:lpstr>診斷方式 </vt:lpstr>
      <vt:lpstr>臨床症狀</vt:lpstr>
      <vt:lpstr>預防方式 </vt:lpstr>
      <vt:lpstr>一次看懂新型、SARS、MERS的差別 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/>
  <cp:lastModifiedBy/>
  <cp:revision>275</cp:revision>
  <dcterms:created xsi:type="dcterms:W3CDTF">2020-04-30T12:55:15Z</dcterms:created>
  <dcterms:modified xsi:type="dcterms:W3CDTF">2020-05-07T10:02:47Z</dcterms:modified>
</cp:coreProperties>
</file>